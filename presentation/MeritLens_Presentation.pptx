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46dc0bc-bcda-6777-38f7-e2f17df6f8bb}">
          <p14:sldIdLst>
            <p14:sldId id="256"/>
            <p14:sldId id="257"/>
            <p14:sldId id="258"/>
            <p14:sldId id="259"/>
          </p14:sldIdLst>
        </p14:section>
        <p14:section name="Predict" id="{63bf015d-10c3-7f65-9c1e-7c518fdb9788}">
          <p14:sldIdLst>
            <p14:sldId id="260"/>
            <p14:sldId id="261"/>
            <p14:sldId id="262"/>
            <p14:sldId id="263"/>
            <p14:sldId id="264"/>
            <p14:sldId id="265"/>
          </p14:sldIdLst>
        </p14:section>
        <p14:section name="Explain" id="{89bceb59-45d8-8417-1d74-e89f5046c44c}">
          <p14:sldIdLst>
            <p14:sldId id="266"/>
            <p14:sldId id="267"/>
            <p14:sldId id="268"/>
          </p14:sldIdLst>
        </p14:section>
        <p14:section name="Respond" id="{88c78aef-4c60-b26f-8cee-424efc1bccea}">
          <p14:sldIdLst>
            <p14:sldId id="269"/>
            <p14:sldId id="270"/>
            <p14:sldId id="271"/>
          </p14:sldIdLst>
        </p14:section>
        <p14:section name="Trust" id="{f1eb5a99-2de9-9f59-c9d7-107abee77c5e}">
          <p14:sldIdLst>
            <p14:sldId id="272"/>
            <p14:sldId id="273"/>
            <p14:sldId id="274"/>
          </p14:sldIdLst>
        </p14:section>
        <p14:section name="Closing" id="{5c90b4f2-ac04-d79a-d952-485119d189db}">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B2430"/>
                </a:solidFill>
                <a:latin typeface="+mn-lt"/>
              </a:defRPr>
            </a:pPr>
            <a:r>
              <a:rPr sz="1500" b="0" i="0" u="none" strike="noStrike">
                <a:solidFill>
                  <a:srgbClr val="1B2430"/>
                </a:solidFill>
                <a:latin typeface="+mn-lt"/>
              </a:rPr>
              <a:t>How often a score went DOWN when the person got better</a:t>
            </a:r>
          </a:p>
        </c:rich>
      </c:tx>
      <c:layout/>
      <c:overlay val="0"/>
    </c:title>
    <c:autoTitleDeleted val="0"/>
    <c:plotArea>
      <c:layout/>
      <c:barChart>
        <c:barDir val="bar"/>
        <c:grouping val="clustered"/>
        <c:varyColors val="0"/>
        <c:ser>
          <c:idx val="0"/>
          <c:order val="0"/>
          <c:tx>
            <c:strRef>
              <c:f>Sheet1!$B$1</c:f>
              <c:strCache>
                <c:ptCount val="1"/>
                <c:pt idx="0">
                  <c:v>Scores that dropped</c:v>
                </c:pt>
              </c:strCache>
            </c:strRef>
          </c:tx>
          <c:spPr>
            <a:solidFill>
              <a:srgbClr val="C2410C"/>
            </a:solidFill>
            <a:effectLst/>
          </c:spPr>
          <c:invertIfNegative val="0"/>
          <c:dLbls>
            <c:numFmt formatCode="0.0&quot;%&quot;" sourceLinked="0"/>
            <c:txPr>
              <a:bodyPr/>
              <a:lstStyle/>
              <a:p>
                <a:pPr>
                  <a:defRPr b="0" i="0" strike="noStrike" sz="14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C2410C"/>
              </a:solidFill>
              <a:effectLst/>
            </c:spPr>
          </c:dPt>
          <c:dPt>
            <c:idx val="1"/>
            <c:invertIfNegative val="0"/>
            <c:bubble3D val="0"/>
            <c:spPr>
              <a:solidFill>
                <a:srgbClr val="C2410C"/>
              </a:solidFill>
              <a:effectLst/>
            </c:spPr>
          </c:dPt>
          <c:dPt>
            <c:idx val="2"/>
            <c:invertIfNegative val="0"/>
            <c:bubble3D val="0"/>
            <c:spPr>
              <a:solidFill>
                <a:srgbClr val="C2410C"/>
              </a:solidFill>
              <a:effectLst/>
            </c:spPr>
          </c:dPt>
          <c:dPt>
            <c:idx val="3"/>
            <c:invertIfNegative val="0"/>
            <c:bubble3D val="0"/>
            <c:spPr>
              <a:solidFill>
                <a:srgbClr val="15807A"/>
              </a:solidFill>
              <a:effectLst/>
            </c:spPr>
          </c:dPt>
          <c:cat>
            <c:multiLvlStrRef>
              <c:f>Sheet1!$A$2:$A$5</c:f>
              <c:multiLvlStrCache>
                <c:ptCount val="4"/>
                <c:lvl>
                  <c:pt idx="0">
                    <c:v>Random forest</c:v>
                  </c:pt>
                  <c:pt idx="1">
                    <c:v>XGBoost</c:v>
                  </c:pt>
                  <c:pt idx="2">
                    <c:v>Logistic regression</c:v>
                  </c:pt>
                  <c:pt idx="3">
                    <c:v>MeritLens model (EBM)</c:v>
                  </c:pt>
                </c:lvl>
              </c:multiLvlStrCache>
            </c:multiLvlStrRef>
          </c:cat>
          <c:val>
            <c:numRef>
              <c:f>Sheet1!$B$2:$B$5</c:f>
              <c:numCache>
                <c:formatCode>General</c:formatCode>
                <c:ptCount val="4"/>
                <c:pt idx="0">
                  <c:v>30.1</c:v>
                </c:pt>
                <c:pt idx="1">
                  <c:v>21.9</c:v>
                </c:pt>
                <c:pt idx="2">
                  <c:v>16.7</c:v>
                </c:pt>
                <c:pt idx="3">
                  <c:v>0</c:v>
                </c:pt>
              </c:numCache>
            </c:numRef>
          </c:val>
        </c:ser>
        <c:dLbls>
          <c:numFmt formatCode="0.0&quot;%&quot;" sourceLinked="0"/>
          <c:txPr>
            <a:bodyPr/>
            <a:lstStyle/>
            <a:p>
              <a:pPr>
                <a:defRPr b="0" i="0" strike="noStrike" sz="1400" u="none">
                  <a:solidFill>
                    <a:srgbClr val="1B243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3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B2430"/>
                </a:solidFill>
                <a:latin typeface="+mn-lt"/>
              </a:defRPr>
            </a:pPr>
            <a:r>
              <a:rPr sz="1500" b="0" i="0" u="none" strike="noStrike">
                <a:solidFill>
                  <a:srgbClr val="1B2430"/>
                </a:solidFill>
                <a:latin typeface="+mn-lt"/>
              </a:rPr>
              <a:t>How often each group is recommended (1.0 = exactly equal)</a:t>
            </a:r>
          </a:p>
        </c:rich>
      </c:tx>
      <c:layout/>
      <c:overlay val="0"/>
    </c:title>
    <c:autoTitleDeleted val="0"/>
    <c:plotArea>
      <c:layout/>
      <c:barChart>
        <c:barDir val="col"/>
        <c:grouping val="clustered"/>
        <c:varyColors val="0"/>
        <c:ser>
          <c:idx val="0"/>
          <c:order val="0"/>
          <c:tx>
            <c:strRef>
              <c:f>Sheet1!$B$1</c:f>
              <c:strCache>
                <c:ptCount val="1"/>
                <c:pt idx="0">
                  <c:v>Fairness ratio</c:v>
                </c:pt>
              </c:strCache>
            </c:strRef>
          </c:tx>
          <c:spPr>
            <a:solidFill>
              <a:srgbClr val="15807A"/>
            </a:solidFill>
            <a:effectLst/>
          </c:spPr>
          <c:invertIfNegative val="0"/>
          <c:dLbls>
            <c:numFmt formatCode="0.00" sourceLinked="0"/>
            <c:txPr>
              <a:bodyPr/>
              <a:lstStyle/>
              <a:p>
                <a:pPr>
                  <a:defRPr b="0" i="0" strike="noStrike" sz="14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Gender</c:v>
                  </c:pt>
                  <c:pt idx="1">
                    <c:v>Age group</c:v>
                  </c:pt>
                  <c:pt idx="2">
                    <c:v>Education</c:v>
                  </c:pt>
                </c:lvl>
              </c:multiLvlStrCache>
            </c:multiLvlStrRef>
          </c:cat>
          <c:val>
            <c:numRef>
              <c:f>Sheet1!$B$2:$B$4</c:f>
              <c:numCache>
                <c:formatCode>General</c:formatCode>
                <c:ptCount val="3"/>
                <c:pt idx="0">
                  <c:v>0.982</c:v>
                </c:pt>
                <c:pt idx="1">
                  <c:v>0.963</c:v>
                </c:pt>
                <c:pt idx="2">
                  <c:v>0.887</c:v>
                </c:pt>
              </c:numCache>
            </c:numRef>
          </c:val>
        </c:ser>
        <c:dLbls>
          <c:numFmt formatCode="0.00" sourceLinked="0"/>
          <c:txPr>
            <a:bodyPr/>
            <a:lstStyle/>
            <a:p>
              <a:pPr>
                <a:defRPr b="0" i="0" strike="noStrike" sz="1400" u="none">
                  <a:solidFill>
                    <a:srgbClr val="1B243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5DE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C"/>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called MeritLens.
In one line: it helps a company decide who is ready for promotion, explains every decision in plain words, and lets every employee answer back.
You don't need any background in computers or statistics to follow this talk. Whenever I use a technical idea, I'll explain it with an everyday comparison.
(Say your name and your supervisor's name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problem. Think about how promotions usually work.
First, people hear "yes" or "no" but rarely "why", so they don't know what to improve.
Second, decisions copy the past. In the records this project learned from, 33 out of every 100 engineers were promoted, but only 2 out of every 100 support staff. If we simply copied those old decisions, a support worker would be held back just because of their department, not their work.
Third, if your record has a mistake, or you think the reasoning is unfair, there's usually no proper channel to say so.
MeritLens is designed to fix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thing from today, make it this sentence: the computer advises, people decide, and every employee can answer back.
The system works in three steps.
Predict: it gives each employee a readiness score, a bit like a weather forecast. A forecast says "70% chance of rain"; this says how likely someone's record looks like the records of people who were promoted.
Explain: every score comes with reasons in everyday language, and a list of realistic things that would raise it.
Respond: the employee can say whether the explanation made sense, or point out a mistake in their record.
The next slides go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kinds of people use MeritLens, and each one can only do their own job. The system checks this on every single request, not just by hiding buttons.
The employee sees their own score and reasons, and can answer back.
The manager recommends people from their team.
HR makes the final decision.
Finance confirms the pay rise. They never see the scores, only what they need to approve the cost.
The admin runs the accounts.
And an auditor can check every decision afterwards, but can't change anything.
Splitting the work like this means no single person can push a promotion through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predict. How does a computer estimate whether someone is ready for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it learn? Imagine an experienced HR reviewer who has looked at a hundred thousand past cases. Over time they notice patterns: people with strong, improving performance and good project records tend to get promoted.
The model does the same thing, but with two big differences. It's consistent: the same record always gets the same score. And it writes down exactly how much each fact counts, so it can always explain why.
It looks at 20 facts about each person's work. In the past data, about 1 in 10 people had been promoted.
Important: all of this data is simulated. It comes from a free public dataset, so no real person's information was used.
(If asked: the "model" is an Explainable Boosting Machine, a type chosen because it can always show its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design choices.
On the left: what the model is allowed to use. Only facts about someone's work: their performance, how they're developing, how reliable they are, and where they are in their career.
On the right: what it never sees. Gender, age, education and marital status, obviously. But also department, because otherwise the support worker from earlier would be marked down just for their team. Pay, because that could copy old pay gaps. And working hours, because we want to reward results, not just staying late.
Each of these exclusions has a written reason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did I choose which model to use? I trained four different kinds and gave them a common-sense test.
I took 2,000 people and improved their record a little: a bit more training, slightly better peer feedback, one more project. A sensible system should never give a lower score to someone who just got better.
The chart shows what happened. The popular models on top sometimes did exactly that: up to 30% of the time, an improvement made the score worse. That would be impossible to explain to an employee: "You did more training, so your chance went down."
Only the model at the bottom, the Explainable Boosting Machine, never did it, because it's built with that rule. Its accuracy was as good as the others, so it was the clear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good is it? I tested it once, on 20,000 records it had never seen before, so it couldn't have memorised the answers.
Here are three plain ways to put the results.
One: show it two people, one who was promoted and one who wasn't. 88 times out of 100, it gives the promoted person the higher score.
Two: of everyone who really was promoted, it finds about 6 in 10. It misses some, which is exactly why a human always makes the final decision.
Three: its percentages are honest. When it says 30%, about 30 in 100 of those people were in fact promoted. That's called being well calibrated.
So think of it like a good weather forecast: useful, but not perfect, and never the final word.
(Technical terms if asked: ROC-AUC 0.883, recall 59.5%, precision 41%, calibration error 0.006.)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being accurate isn't enough; it also has to be fair.
I used a standard test from employment law called the four-fifths rule. It says: whichever group is recommended most, every other group should be recommended at least four-fifths, that's 80%, as often.
A score of 1.0 would mean perfectly equal. Gender scores 0.98, age 0.96, education 0.89. All comfortably above the 0.8 line.
Two more safeguards. First, any model that fails this test is blocked automatically and can never be switched on. Second, HR can see the same test on live decisions, at three stages: what the model recommends, who managers nominate, and who HR approves. So if unfairness creeps in through people, not just the computer, it shows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explain. A score on its own isn't much use. People need to know why, and what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employee's own page, called "My growth". This is a demo employee called Eli.
At the top is the readiness score, shown against the line where the model would recommend promotion: 23%.
Next to it, in plain words: what this means, written like a person would say it.
Below that, what raised and lowered the score. Teal bars helped, orange bars held it back, and the longer the bar, the bigger the effect. For Eli, attendance helped, but a drop in performance since last year held them back the most.
These numbers aren't guesses about what the model was "thinking". Because of the type of model chosen, the contributions add up exactly to the score. And there's a "technical details" section with the exact numbers and a second, independent method (called LIME) for anyone who wants to double-check.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Telling someone their score is low isn't enough. They need to know what to do about it.
On the left, "Your path to promotion": the smallest realistic improvements that would get them over the line. Realistic means no bigger than a typical step, and never beyond what the top 5% of employees achieve. Each suggestion has been tried on the model to make sure it really works. For 98 of the 108 demo employees not yet recommended, the system found a path. The employee can turn these tips into goals with their manager in a development plan.
On the right, "What if?": the employee can move sliders and watch the score change, like a savings calculator. Only things a person can actually work on are offered (you can't change your department or how long you've been in your role), and nothing is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and this is what makes the project different from most: respond. The employee gets a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under their explanation, every employee has two options.
The first is "Rate this explanation": was it clear, was it useful, and does any factor seem wrong or unfair? This tells HR how well the explanations are working. To protect privacy, HR only sees totals, and only once at least 5 people have answered. Managers never see them at all.
The second is "Correct my record". Say Eli's record shows 5 projects but they actually completed 8. They can ask HR to fix it and attach evidence, like a PDF or a photo. HR checks it. If HR confirms it, the record is corrected, Eli is re-scored, and every detail is logged: who changed what, the old and new value, and the score before and after. If HR rejects it, Eli gets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obvious worry: if people can complain, will complaining raise their score? The answer is no, and this is built into the design.
On the left: a rating or a complaint never reaches the model. It's used to improve the explanations and to show HR where people disagree, but it can't move anyone's score, up or down.
On the right: the only thing that changes a record is a fact that HR has checked against evidence.
And it's not just a promise. There's an automatic test that records every score, then adds ratings, complaints and corrections, and checks that every score is still identical. Two more checks make sure the scoring part of the code can't even read the feedback.
One more detail: if someone is up for promotion while their correction is still pending, HR's screen warns them, and the decision can be held until the correction is settled. So nobody gets judged on a record that might be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follow one promotion from start to finish, to show that people make every decision.
First the model advises: a score and the reasons.
Then the manager recommends. They fill in a structured form, rating four areas from 1 to 5, each with a real example. If they disagree with the model, they must write down why.
Then HR decides. The system saves the model's view right next to HR's decision, so later anyone can see where people and the computer disagreed.
Then Finance signs off the pay rise, or sends it back with a reason.
And only when all of that is final is the employee told. Nobody hears about a promotion that might still change.
Pay rises have limits set by HR, salaries are never stored, and Finance only sees what they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system like this to be used in a real company, people have to trust it. Six features are there for that.
One: every decision goes into a log where each entry is sealed to the one before it, like links in a chain. If anyone edits or deletes an old entry, the chain breaks, and one click shows it.
Two: a new version of the model only goes live when a named HR person has read its report card and switched it on. A model that failed the fairness test can never be switched on.
Three: fairness is checked on real decisions as they happen, not just once in the lab.
Four: privacy. Anyone can download everything held about them, people who leave can have their personal data erased, and old data is deleted automatically.
Five: secure sign-in, with two-step codes and lock-out after wrong passwords.
And six: optionally, big changes need a second HR person to approve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Employees won't always be at a desk, so MeritLens works on phones, tablets and computers, in light and dark themes. Here are three screens on a phone: signing in, a manager's overview, and the employee's growth page in dark mode.
All 45 pages were checked automatically for all six roles. There were zero accessibility problems against the international standard, WCAG, which covers things like screen readers, colour contrast and keyboard use. And every page was tested at phone widths from the smallest Androids up to the largest iPhones, so nothing overlaps or runs off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I know it works? Four pieces of evidence.
400 automated tests check everything from who can see what, to the pay rules, to the privacy features. They all pass, on two different kinds of database.
The model was measured once, on 20,000 records it had never seen.
The isolation test showed that feedback changed exactly zero scores.
And with 5,000 employees loaded, even the slowest page loaded in about a quarter of a second.
The next step is a study with real people. Everything for it is ready inside the app: 11 tasks, a standard usability questionnaire, and questions about whether the process feels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important to be honest about the limits.
The data is simulated. A real company would need to retrain the model on its own promotion history, with consent.
It hasn't been tried with real staff yet; that's the study I just mentioned.
Fairness has a price. An earlier version that used department was more accurate at predicting past decisions, but only because it copied the old habit of promoting some departments more. I chose fairness over that kind of accuracy on purpose.
And it's ready to go live on a secure server, but it hasn't been run for real yet.
Future work: run the study, add a confidential way to report unfair treatment, and make sure department can't sneak back in through other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MeritLens predicts how ready someone is for promotion using only their work, explains every score in plain words with a realistic path forward, and gives every employee a way to answer back, while people make every decision and every step is recorded.
The computer advises. People decide. Everyone can answer back.
Thank you. I'm happy to take questions, or to show the live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F2A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8686800" cy="128016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548640" y="3337560"/>
            <a:ext cx="8686800" cy="1280160"/>
          </a:xfrm>
          <a:prstGeom prst="rect">
            <a:avLst/>
          </a:prstGeom>
          <a:noFill/>
          <a:ln/>
        </p:spPr>
        <p:txBody>
          <a:bodyPr wrap="square" rtlCol="0"/>
          <a:lstStyle>
            <a:lvl1pPr algn="l" indent="0" marL="0">
              <a:buNone/>
              <a:defRPr lang="en-US" sz="2200" dirty="0">
                <a:solidFill>
                  <a:schemeClr val="bg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0F2A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286000" y="2514600"/>
            <a:ext cx="8961120" cy="10058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2286000" y="3520440"/>
            <a:ext cx="8961120" cy="822960"/>
          </a:xfrm>
          <a:prstGeom prst="rect">
            <a:avLst/>
          </a:prstGeom>
          <a:noFill/>
          <a:ln/>
        </p:spPr>
        <p:txBody>
          <a:bodyPr wrap="square" rtlCol="0"/>
          <a:lstStyle>
            <a:lvl1pPr algn="l" indent="0" marL="0">
              <a:buNone/>
              <a:defRPr lang="en-US" sz="2200" dirty="0">
                <a:solidFill>
                  <a:schemeClr val="bg1"/>
                </a:solidFill>
                <a:latin typeface="Calibri" pitchFamily="34" charset="0"/>
                <a:ea typeface="Calibri" pitchFamily="34" charset="-122"/>
                <a:cs typeface="Calibri" pitchFamily="34" charset="-120"/>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9D3E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355080"/>
            <a:ext cx="2743200" cy="274320"/>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MeritLens</a:t>
            </a:r>
            <a:endParaRPr lang="en-US" sz="11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9D3E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slideLayout" Target="../slideLayouts/slideLayout4.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4.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8686800" cy="128016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MeritLens</a:t>
            </a:r>
            <a:endParaRPr lang="en-US" sz="5400" dirty="0"/>
          </a:p>
        </p:txBody>
      </p:sp>
      <p:sp>
        <p:nvSpPr>
          <p:cNvPr id="3" name="Text 0"/>
          <p:cNvSpPr/>
          <p:nvPr>
            <p:ph idx="101" type="body" hasCustomPrompt="1"/>
          </p:nvPr>
        </p:nvSpPr>
        <p:spPr>
          <a:xfrm>
            <a:off x="548640" y="3337560"/>
            <a:ext cx="8686800" cy="1280160"/>
          </a:xfrm>
          <a:prstGeom prst="rect">
            <a:avLst/>
          </a:prstGeom>
          <a:noFill/>
          <a:ln/>
        </p:spPr>
        <p:txBody>
          <a:bodyPr wrap="square" lIns="0" tIns="0" rIns="0" bIns="0" rtlCol="0" anchor="t"/>
          <a:lstStyle/>
          <a:p>
            <a:pPr algn="l" indent="0" marL="0">
              <a:buNone/>
            </a:pPr>
            <a:r>
              <a:rPr lang="en-US" sz="2200" dirty="0">
                <a:solidFill>
                  <a:schemeClr val="bg1"/>
                </a:solidFill>
                <a:latin typeface="Calibri" pitchFamily="34" charset="0"/>
                <a:ea typeface="Calibri" pitchFamily="34" charset="-122"/>
                <a:cs typeface="Calibri" pitchFamily="34" charset="-120"/>
              </a:rPr>
              <a:t>Fair, explainable promotion decisions, with a voice for every employee</a:t>
            </a:r>
            <a:endParaRPr lang="en-US" sz="2200" dirty="0"/>
          </a:p>
        </p:txBody>
      </p:sp>
      <p:sp>
        <p:nvSpPr>
          <p:cNvPr id="4" name="project title"/>
          <p:cNvSpPr txBox="1"/>
          <p:nvPr/>
        </p:nvSpPr>
        <p:spPr>
          <a:xfrm>
            <a:off x="548640" y="5577840"/>
            <a:ext cx="8686800" cy="685800"/>
          </a:xfrm>
          <a:prstGeom prst="rect">
            <a:avLst/>
          </a:prstGeom>
          <a:noFill/>
          <a:ln/>
        </p:spPr>
        <p:txBody>
          <a:bodyPr wrap="square" lIns="0" tIns="0" rIns="0" bIns="0" rtlCol="0" anchor="t"/>
          <a:lstStyle/>
          <a:p>
            <a:pPr indent="0" marL="0">
              <a:buNone/>
            </a:pPr>
            <a:r>
              <a:rPr lang="en-US" sz="1400" dirty="0">
                <a:solidFill>
                  <a:srgbClr val="B9D3E6"/>
                </a:solidFill>
                <a:latin typeface="Calibri" pitchFamily="34" charset="0"/>
                <a:ea typeface="Calibri" pitchFamily="34" charset="-122"/>
                <a:cs typeface="Calibri" pitchFamily="34" charset="-120"/>
              </a:rPr>
              <a:t>Final-year project · Design and development of an explainable machine-learning decision support system for employee promotion, with an employee feedback channel</a:t>
            </a:r>
            <a:endParaRPr lang="en-US" sz="1400" dirty="0"/>
          </a:p>
        </p:txBody>
      </p:sp>
      <p:sp>
        <p:nvSpPr>
          <p:cNvPr id="5" name="title badge circle"/>
          <p:cNvSpPr/>
          <p:nvPr/>
        </p:nvSpPr>
        <p:spPr>
          <a:xfrm>
            <a:off x="9509760" y="1828800"/>
            <a:ext cx="2103120" cy="2103120"/>
          </a:xfrm>
          <a:prstGeom prst="ellipse">
            <a:avLst/>
          </a:prstGeom>
          <a:solidFill>
            <a:srgbClr val="15807A"/>
          </a:solidFill>
          <a:ln/>
        </p:spPr>
      </p:sp>
      <p:pic>
        <p:nvPicPr>
          <p:cNvPr id="6" name="title badge icon" descr="preencoded.png">    </p:cNvPr>
          <p:cNvPicPr>
            <a:picLocks noChangeAspect="1"/>
          </p:cNvPicPr>
          <p:nvPr/>
        </p:nvPicPr>
        <p:blipFill>
          <a:blip r:embed="rId1"/>
          <a:stretch>
            <a:fillRect/>
          </a:stretch>
        </p:blipFill>
        <p:spPr>
          <a:xfrm>
            <a:off x="10014509" y="2333549"/>
            <a:ext cx="1093622" cy="10936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Promotions often feel like a black box</a:t>
            </a:r>
            <a:endParaRPr lang="en-US" sz="3600" dirty="0"/>
          </a:p>
        </p:txBody>
      </p:sp>
      <p:sp>
        <p:nvSpPr>
          <p:cNvPr id="3" name="problem 1 card"/>
          <p:cNvSpPr/>
          <p:nvPr/>
        </p:nvSpPr>
        <p:spPr>
          <a:xfrm>
            <a:off x="548640" y="1508760"/>
            <a:ext cx="3454298" cy="2743200"/>
          </a:xfrm>
          <a:prstGeom prst="roundRect">
            <a:avLst>
              <a:gd name="adj" fmla="val 2667"/>
            </a:avLst>
          </a:prstGeom>
          <a:solidFill>
            <a:srgbClr val="EEF3F6"/>
          </a:solidFill>
          <a:ln/>
        </p:spPr>
      </p:sp>
      <p:sp>
        <p:nvSpPr>
          <p:cNvPr id="4" name="problem 1 circle"/>
          <p:cNvSpPr/>
          <p:nvPr/>
        </p:nvSpPr>
        <p:spPr>
          <a:xfrm>
            <a:off x="822960" y="1783080"/>
            <a:ext cx="566928" cy="566928"/>
          </a:xfrm>
          <a:prstGeom prst="ellipse">
            <a:avLst/>
          </a:prstGeom>
          <a:solidFill>
            <a:srgbClr val="0F2A44"/>
          </a:solidFill>
          <a:ln/>
        </p:spPr>
      </p:sp>
      <p:pic>
        <p:nvPicPr>
          <p:cNvPr id="5" name="problem 1 icon" descr="preencoded.png">    </p:cNvPr>
          <p:cNvPicPr>
            <a:picLocks noChangeAspect="1"/>
          </p:cNvPicPr>
          <p:nvPr/>
        </p:nvPicPr>
        <p:blipFill>
          <a:blip r:embed="rId1"/>
          <a:stretch>
            <a:fillRect/>
          </a:stretch>
        </p:blipFill>
        <p:spPr>
          <a:xfrm>
            <a:off x="959023" y="1919143"/>
            <a:ext cx="294803" cy="294803"/>
          </a:xfrm>
          <a:prstGeom prst="rect">
            <a:avLst/>
          </a:prstGeom>
        </p:spPr>
      </p:pic>
      <p:sp>
        <p:nvSpPr>
          <p:cNvPr id="6" name="problem 1 heading"/>
          <p:cNvSpPr txBox="1"/>
          <p:nvPr/>
        </p:nvSpPr>
        <p:spPr>
          <a:xfrm>
            <a:off x="822960" y="2514600"/>
            <a:ext cx="2905658"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“Why not me?”</a:t>
            </a:r>
            <a:endParaRPr lang="en-US" sz="1800" dirty="0"/>
          </a:p>
        </p:txBody>
      </p:sp>
      <p:sp>
        <p:nvSpPr>
          <p:cNvPr id="7" name="problem 1 text"/>
          <p:cNvSpPr txBox="1"/>
          <p:nvPr/>
        </p:nvSpPr>
        <p:spPr>
          <a:xfrm>
            <a:off x="822960" y="2953512"/>
            <a:ext cx="2905658" cy="10972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People are often told yes or no, but rarely why, or what to work on next.</a:t>
            </a:r>
            <a:endParaRPr lang="en-US" sz="1500" dirty="0"/>
          </a:p>
        </p:txBody>
      </p:sp>
      <p:sp>
        <p:nvSpPr>
          <p:cNvPr id="8" name="problem 2 card"/>
          <p:cNvSpPr/>
          <p:nvPr/>
        </p:nvSpPr>
        <p:spPr>
          <a:xfrm>
            <a:off x="4368698" y="1508760"/>
            <a:ext cx="3454298" cy="2743200"/>
          </a:xfrm>
          <a:prstGeom prst="roundRect">
            <a:avLst>
              <a:gd name="adj" fmla="val 2667"/>
            </a:avLst>
          </a:prstGeom>
          <a:solidFill>
            <a:srgbClr val="EEF3F6"/>
          </a:solidFill>
          <a:ln/>
        </p:spPr>
      </p:sp>
      <p:sp>
        <p:nvSpPr>
          <p:cNvPr id="9" name="problem 2 circle"/>
          <p:cNvSpPr/>
          <p:nvPr/>
        </p:nvSpPr>
        <p:spPr>
          <a:xfrm>
            <a:off x="4643018" y="1783080"/>
            <a:ext cx="566928" cy="566928"/>
          </a:xfrm>
          <a:prstGeom prst="ellipse">
            <a:avLst/>
          </a:prstGeom>
          <a:solidFill>
            <a:srgbClr val="0F2A44"/>
          </a:solidFill>
          <a:ln/>
        </p:spPr>
      </p:sp>
      <p:pic>
        <p:nvPicPr>
          <p:cNvPr id="10" name="problem 2 icon" descr="preencoded.png">    </p:cNvPr>
          <p:cNvPicPr>
            <a:picLocks noChangeAspect="1"/>
          </p:cNvPicPr>
          <p:nvPr/>
        </p:nvPicPr>
        <p:blipFill>
          <a:blip r:embed="rId2"/>
          <a:stretch>
            <a:fillRect/>
          </a:stretch>
        </p:blipFill>
        <p:spPr>
          <a:xfrm>
            <a:off x="4779081" y="1919143"/>
            <a:ext cx="294803" cy="294803"/>
          </a:xfrm>
          <a:prstGeom prst="rect">
            <a:avLst/>
          </a:prstGeom>
        </p:spPr>
      </p:pic>
      <p:sp>
        <p:nvSpPr>
          <p:cNvPr id="11" name="problem 2 heading"/>
          <p:cNvSpPr txBox="1"/>
          <p:nvPr/>
        </p:nvSpPr>
        <p:spPr>
          <a:xfrm>
            <a:off x="4643018" y="2514600"/>
            <a:ext cx="2905658"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Old habits repeat</a:t>
            </a:r>
            <a:endParaRPr lang="en-US" sz="1800" dirty="0"/>
          </a:p>
        </p:txBody>
      </p:sp>
      <p:sp>
        <p:nvSpPr>
          <p:cNvPr id="12" name="problem 2 text"/>
          <p:cNvSpPr txBox="1"/>
          <p:nvPr/>
        </p:nvSpPr>
        <p:spPr>
          <a:xfrm>
            <a:off x="4643018" y="2953512"/>
            <a:ext cx="2905658" cy="10972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Past decisions carry old patterns. In our data, Engineering staff were promoted 16 times as often as Support staff.</a:t>
            </a:r>
            <a:endParaRPr lang="en-US" sz="1500" dirty="0"/>
          </a:p>
        </p:txBody>
      </p:sp>
      <p:sp>
        <p:nvSpPr>
          <p:cNvPr id="13" name="problem 3 card"/>
          <p:cNvSpPr/>
          <p:nvPr/>
        </p:nvSpPr>
        <p:spPr>
          <a:xfrm>
            <a:off x="8188757" y="1508760"/>
            <a:ext cx="3454298" cy="2743200"/>
          </a:xfrm>
          <a:prstGeom prst="roundRect">
            <a:avLst>
              <a:gd name="adj" fmla="val 2667"/>
            </a:avLst>
          </a:prstGeom>
          <a:solidFill>
            <a:srgbClr val="EEF3F6"/>
          </a:solidFill>
          <a:ln/>
        </p:spPr>
      </p:sp>
      <p:sp>
        <p:nvSpPr>
          <p:cNvPr id="14" name="problem 3 circle"/>
          <p:cNvSpPr/>
          <p:nvPr/>
        </p:nvSpPr>
        <p:spPr>
          <a:xfrm>
            <a:off x="8463077" y="1783080"/>
            <a:ext cx="566928" cy="566928"/>
          </a:xfrm>
          <a:prstGeom prst="ellipse">
            <a:avLst/>
          </a:prstGeom>
          <a:solidFill>
            <a:srgbClr val="0F2A44"/>
          </a:solidFill>
          <a:ln/>
        </p:spPr>
      </p:sp>
      <p:pic>
        <p:nvPicPr>
          <p:cNvPr id="15" name="problem 3 icon" descr="preencoded.png">    </p:cNvPr>
          <p:cNvPicPr>
            <a:picLocks noChangeAspect="1"/>
          </p:cNvPicPr>
          <p:nvPr/>
        </p:nvPicPr>
        <p:blipFill>
          <a:blip r:embed="rId3"/>
          <a:stretch>
            <a:fillRect/>
          </a:stretch>
        </p:blipFill>
        <p:spPr>
          <a:xfrm>
            <a:off x="8599140" y="1919143"/>
            <a:ext cx="294803" cy="294803"/>
          </a:xfrm>
          <a:prstGeom prst="rect">
            <a:avLst/>
          </a:prstGeom>
        </p:spPr>
      </p:pic>
      <p:sp>
        <p:nvSpPr>
          <p:cNvPr id="16" name="problem 3 heading"/>
          <p:cNvSpPr txBox="1"/>
          <p:nvPr/>
        </p:nvSpPr>
        <p:spPr>
          <a:xfrm>
            <a:off x="8463077" y="2514600"/>
            <a:ext cx="2905658"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No way to answer back</a:t>
            </a:r>
            <a:endParaRPr lang="en-US" sz="1800" dirty="0"/>
          </a:p>
        </p:txBody>
      </p:sp>
      <p:sp>
        <p:nvSpPr>
          <p:cNvPr id="17" name="problem 3 text"/>
          <p:cNvSpPr txBox="1"/>
          <p:nvPr/>
        </p:nvSpPr>
        <p:spPr>
          <a:xfrm>
            <a:off x="8463077" y="2953512"/>
            <a:ext cx="2905658" cy="10972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If your record is wrong, or the reasoning seems unfair, there is usually nowhere to say so.</a:t>
            </a:r>
            <a:endParaRPr lang="en-US" sz="1500" dirty="0"/>
          </a:p>
        </p:txBody>
      </p:sp>
      <p:sp>
        <p:nvSpPr>
          <p:cNvPr id="18" name="department gap"/>
          <p:cNvSpPr txBox="1"/>
          <p:nvPr/>
        </p:nvSpPr>
        <p:spPr>
          <a:xfrm>
            <a:off x="548640" y="4754880"/>
            <a:ext cx="11094415" cy="54864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2% </a:t>
            </a:r>
            <a:pPr indent="0" marL="0">
              <a:buNone/>
            </a:pPr>
            <a:r>
              <a:rPr lang="en-US" sz="1800" dirty="0">
                <a:solidFill>
                  <a:schemeClr val="tx1"/>
                </a:solidFill>
                <a:latin typeface="Calibri" pitchFamily="34" charset="0"/>
                <a:ea typeface="Calibri" pitchFamily="34" charset="-122"/>
                <a:cs typeface="Calibri" pitchFamily="34" charset="-120"/>
              </a:rPr>
              <a:t>of Support staff promoted, against </a:t>
            </a:r>
            <a:pPr indent="0" marL="0">
              <a:buNone/>
            </a:pPr>
            <a:r>
              <a:rPr lang="en-US" sz="1800" b="1" dirty="0">
                <a:solidFill>
                  <a:schemeClr val="accent2"/>
                </a:solidFill>
                <a:latin typeface="Calibri" pitchFamily="34" charset="0"/>
                <a:ea typeface="Calibri" pitchFamily="34" charset="-122"/>
                <a:cs typeface="Calibri" pitchFamily="34" charset="-120"/>
              </a:rPr>
              <a:t>33% </a:t>
            </a:r>
            <a:pPr indent="0" marL="0">
              <a:buNone/>
            </a:pPr>
            <a:r>
              <a:rPr lang="en-US" sz="1800" dirty="0">
                <a:solidFill>
                  <a:schemeClr val="tx1"/>
                </a:solidFill>
                <a:latin typeface="Calibri" pitchFamily="34" charset="0"/>
                <a:ea typeface="Calibri" pitchFamily="34" charset="-122"/>
                <a:cs typeface="Calibri" pitchFamily="34" charset="-120"/>
              </a:rPr>
              <a:t>in Engineering, in the past records the system learned from.</a:t>
            </a:r>
            <a:endParaRPr lang="en-US" sz="18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MeritLens in one sentence</a:t>
            </a:r>
            <a:endParaRPr lang="en-US" sz="3600" dirty="0"/>
          </a:p>
        </p:txBody>
      </p:sp>
      <p:sp>
        <p:nvSpPr>
          <p:cNvPr id="3" name="one sentence"/>
          <p:cNvSpPr txBox="1"/>
          <p:nvPr/>
        </p:nvSpPr>
        <p:spPr>
          <a:xfrm>
            <a:off x="548640" y="1417320"/>
            <a:ext cx="11094415" cy="822960"/>
          </a:xfrm>
          <a:prstGeom prst="rect">
            <a:avLst/>
          </a:prstGeom>
          <a:noFill/>
          <a:ln/>
        </p:spPr>
        <p:txBody>
          <a:bodyPr wrap="square" lIns="0" tIns="0" rIns="0" bIns="0" rtlCol="0" anchor="t"/>
          <a:lstStyle/>
          <a:p>
            <a:pPr indent="0" marL="0">
              <a:buNone/>
            </a:pPr>
            <a:r>
              <a:rPr lang="en-US" sz="3000" i="1" dirty="0">
                <a:solidFill>
                  <a:schemeClr val="accent1"/>
                </a:solidFill>
                <a:latin typeface="Cambria" pitchFamily="34" charset="0"/>
                <a:ea typeface="Cambria" pitchFamily="34" charset="-122"/>
                <a:cs typeface="Cambria" pitchFamily="34" charset="-120"/>
              </a:rPr>
              <a:t>The computer advises, people decide, and every employee can answer back.</a:t>
            </a:r>
            <a:endParaRPr lang="en-US" sz="3000" dirty="0"/>
          </a:p>
        </p:txBody>
      </p:sp>
      <p:sp>
        <p:nvSpPr>
          <p:cNvPr id="4" name="step 1 circle"/>
          <p:cNvSpPr/>
          <p:nvPr/>
        </p:nvSpPr>
        <p:spPr>
          <a:xfrm>
            <a:off x="548640" y="2697480"/>
            <a:ext cx="914400" cy="914400"/>
          </a:xfrm>
          <a:prstGeom prst="ellipse">
            <a:avLst/>
          </a:prstGeom>
          <a:solidFill>
            <a:srgbClr val="0F2A44"/>
          </a:solidFill>
          <a:ln/>
        </p:spPr>
      </p:sp>
      <p:pic>
        <p:nvPicPr>
          <p:cNvPr id="5" name="step 1 icon" descr="preencoded.png">    </p:cNvPr>
          <p:cNvPicPr>
            <a:picLocks noChangeAspect="1"/>
          </p:cNvPicPr>
          <p:nvPr/>
        </p:nvPicPr>
        <p:blipFill>
          <a:blip r:embed="rId1"/>
          <a:stretch>
            <a:fillRect/>
          </a:stretch>
        </p:blipFill>
        <p:spPr>
          <a:xfrm>
            <a:off x="768096" y="2916936"/>
            <a:ext cx="475488" cy="475488"/>
          </a:xfrm>
          <a:prstGeom prst="rect">
            <a:avLst/>
          </a:prstGeom>
        </p:spPr>
      </p:pic>
      <p:sp>
        <p:nvSpPr>
          <p:cNvPr id="6" name="step 1 heading"/>
          <p:cNvSpPr txBox="1"/>
          <p:nvPr/>
        </p:nvSpPr>
        <p:spPr>
          <a:xfrm>
            <a:off x="548640" y="3794760"/>
            <a:ext cx="3246120" cy="457200"/>
          </a:xfrm>
          <a:prstGeom prst="rect">
            <a:avLst/>
          </a:prstGeom>
          <a:noFill/>
          <a:ln/>
        </p:spPr>
        <p:txBody>
          <a:bodyPr wrap="square" lIns="0" tIns="0" rIns="0" bIns="0" rtlCol="0" anchor="t"/>
          <a:lstStyle/>
          <a:p>
            <a:pPr indent="0" marL="0">
              <a:buNone/>
            </a:pPr>
            <a:r>
              <a:rPr lang="en-US" sz="2200" b="1" dirty="0">
                <a:solidFill>
                  <a:schemeClr val="tx2"/>
                </a:solidFill>
                <a:latin typeface="Calibri" pitchFamily="34" charset="0"/>
                <a:ea typeface="Calibri" pitchFamily="34" charset="-122"/>
                <a:cs typeface="Calibri" pitchFamily="34" charset="-120"/>
              </a:rPr>
              <a:t>1  Predict</a:t>
            </a:r>
            <a:endParaRPr lang="en-US" sz="2200" dirty="0"/>
          </a:p>
        </p:txBody>
      </p:sp>
      <p:sp>
        <p:nvSpPr>
          <p:cNvPr id="7" name="step 1 text"/>
          <p:cNvSpPr txBox="1"/>
          <p:nvPr/>
        </p:nvSpPr>
        <p:spPr>
          <a:xfrm>
            <a:off x="548640" y="4297680"/>
            <a:ext cx="3246120" cy="11887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Estimates how ready each person is for promotion, from their work record only.</a:t>
            </a:r>
            <a:endParaRPr lang="en-US" sz="1600" dirty="0"/>
          </a:p>
        </p:txBody>
      </p:sp>
      <p:pic>
        <p:nvPicPr>
          <p:cNvPr id="8" name="arrow 1" descr="preencoded.png">    </p:cNvPr>
          <p:cNvPicPr>
            <a:picLocks noChangeAspect="1"/>
          </p:cNvPicPr>
          <p:nvPr/>
        </p:nvPicPr>
        <p:blipFill>
          <a:blip r:embed="rId2"/>
          <a:stretch>
            <a:fillRect/>
          </a:stretch>
        </p:blipFill>
        <p:spPr>
          <a:xfrm>
            <a:off x="3859454" y="2880360"/>
            <a:ext cx="548640" cy="548640"/>
          </a:xfrm>
          <a:prstGeom prst="rect">
            <a:avLst/>
          </a:prstGeom>
        </p:spPr>
      </p:pic>
      <p:sp>
        <p:nvSpPr>
          <p:cNvPr id="9" name="step 2 circle"/>
          <p:cNvSpPr/>
          <p:nvPr/>
        </p:nvSpPr>
        <p:spPr>
          <a:xfrm>
            <a:off x="4472788" y="2697480"/>
            <a:ext cx="914400" cy="914400"/>
          </a:xfrm>
          <a:prstGeom prst="ellipse">
            <a:avLst/>
          </a:prstGeom>
          <a:solidFill>
            <a:srgbClr val="0F2A44"/>
          </a:solidFill>
          <a:ln/>
        </p:spPr>
      </p:sp>
      <p:pic>
        <p:nvPicPr>
          <p:cNvPr id="10" name="step 2 icon" descr="preencoded.png">    </p:cNvPr>
          <p:cNvPicPr>
            <a:picLocks noChangeAspect="1"/>
          </p:cNvPicPr>
          <p:nvPr/>
        </p:nvPicPr>
        <p:blipFill>
          <a:blip r:embed="rId3"/>
          <a:stretch>
            <a:fillRect/>
          </a:stretch>
        </p:blipFill>
        <p:spPr>
          <a:xfrm>
            <a:off x="4692244" y="2916936"/>
            <a:ext cx="475488" cy="475488"/>
          </a:xfrm>
          <a:prstGeom prst="rect">
            <a:avLst/>
          </a:prstGeom>
        </p:spPr>
      </p:pic>
      <p:sp>
        <p:nvSpPr>
          <p:cNvPr id="11" name="step 2 heading"/>
          <p:cNvSpPr txBox="1"/>
          <p:nvPr/>
        </p:nvSpPr>
        <p:spPr>
          <a:xfrm>
            <a:off x="4472788" y="3794760"/>
            <a:ext cx="3246120" cy="457200"/>
          </a:xfrm>
          <a:prstGeom prst="rect">
            <a:avLst/>
          </a:prstGeom>
          <a:noFill/>
          <a:ln/>
        </p:spPr>
        <p:txBody>
          <a:bodyPr wrap="square" lIns="0" tIns="0" rIns="0" bIns="0" rtlCol="0" anchor="t"/>
          <a:lstStyle/>
          <a:p>
            <a:pPr indent="0" marL="0">
              <a:buNone/>
            </a:pPr>
            <a:r>
              <a:rPr lang="en-US" sz="2200" b="1" dirty="0">
                <a:solidFill>
                  <a:schemeClr val="tx2"/>
                </a:solidFill>
                <a:latin typeface="Calibri" pitchFamily="34" charset="0"/>
                <a:ea typeface="Calibri" pitchFamily="34" charset="-122"/>
                <a:cs typeface="Calibri" pitchFamily="34" charset="-120"/>
              </a:rPr>
              <a:t>2  Explain</a:t>
            </a:r>
            <a:endParaRPr lang="en-US" sz="2200" dirty="0"/>
          </a:p>
        </p:txBody>
      </p:sp>
      <p:sp>
        <p:nvSpPr>
          <p:cNvPr id="12" name="step 2 text"/>
          <p:cNvSpPr txBox="1"/>
          <p:nvPr/>
        </p:nvSpPr>
        <p:spPr>
          <a:xfrm>
            <a:off x="4472788" y="4297680"/>
            <a:ext cx="3246120" cy="11887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Shows why in plain words, and the smallest realistic steps that would get them there.</a:t>
            </a:r>
            <a:endParaRPr lang="en-US" sz="1600" dirty="0"/>
          </a:p>
        </p:txBody>
      </p:sp>
      <p:pic>
        <p:nvPicPr>
          <p:cNvPr id="13" name="arrow 2" descr="preencoded.png">    </p:cNvPr>
          <p:cNvPicPr>
            <a:picLocks noChangeAspect="1"/>
          </p:cNvPicPr>
          <p:nvPr/>
        </p:nvPicPr>
        <p:blipFill>
          <a:blip r:embed="rId4"/>
          <a:stretch>
            <a:fillRect/>
          </a:stretch>
        </p:blipFill>
        <p:spPr>
          <a:xfrm>
            <a:off x="7783601" y="2880360"/>
            <a:ext cx="548640" cy="548640"/>
          </a:xfrm>
          <a:prstGeom prst="rect">
            <a:avLst/>
          </a:prstGeom>
        </p:spPr>
      </p:pic>
      <p:sp>
        <p:nvSpPr>
          <p:cNvPr id="14" name="step 3 circle"/>
          <p:cNvSpPr/>
          <p:nvPr/>
        </p:nvSpPr>
        <p:spPr>
          <a:xfrm>
            <a:off x="8396935" y="2697480"/>
            <a:ext cx="914400" cy="914400"/>
          </a:xfrm>
          <a:prstGeom prst="ellipse">
            <a:avLst/>
          </a:prstGeom>
          <a:solidFill>
            <a:srgbClr val="15807A"/>
          </a:solidFill>
          <a:ln/>
        </p:spPr>
      </p:sp>
      <p:pic>
        <p:nvPicPr>
          <p:cNvPr id="15" name="step 3 icon" descr="preencoded.png">    </p:cNvPr>
          <p:cNvPicPr>
            <a:picLocks noChangeAspect="1"/>
          </p:cNvPicPr>
          <p:nvPr/>
        </p:nvPicPr>
        <p:blipFill>
          <a:blip r:embed="rId5"/>
          <a:stretch>
            <a:fillRect/>
          </a:stretch>
        </p:blipFill>
        <p:spPr>
          <a:xfrm>
            <a:off x="8616391" y="2916936"/>
            <a:ext cx="475488" cy="475488"/>
          </a:xfrm>
          <a:prstGeom prst="rect">
            <a:avLst/>
          </a:prstGeom>
        </p:spPr>
      </p:pic>
      <p:sp>
        <p:nvSpPr>
          <p:cNvPr id="16" name="step 3 heading"/>
          <p:cNvSpPr txBox="1"/>
          <p:nvPr/>
        </p:nvSpPr>
        <p:spPr>
          <a:xfrm>
            <a:off x="8396935" y="3794760"/>
            <a:ext cx="3246120" cy="457200"/>
          </a:xfrm>
          <a:prstGeom prst="rect">
            <a:avLst/>
          </a:prstGeom>
          <a:noFill/>
          <a:ln/>
        </p:spPr>
        <p:txBody>
          <a:bodyPr wrap="square" lIns="0" tIns="0" rIns="0" bIns="0" rtlCol="0" anchor="t"/>
          <a:lstStyle/>
          <a:p>
            <a:pPr indent="0" marL="0">
              <a:buNone/>
            </a:pPr>
            <a:r>
              <a:rPr lang="en-US" sz="2200" b="1" dirty="0">
                <a:solidFill>
                  <a:schemeClr val="tx2"/>
                </a:solidFill>
                <a:latin typeface="Calibri" pitchFamily="34" charset="0"/>
                <a:ea typeface="Calibri" pitchFamily="34" charset="-122"/>
                <a:cs typeface="Calibri" pitchFamily="34" charset="-120"/>
              </a:rPr>
              <a:t>3  Respond</a:t>
            </a:r>
            <a:endParaRPr lang="en-US" sz="2200" dirty="0"/>
          </a:p>
        </p:txBody>
      </p:sp>
      <p:sp>
        <p:nvSpPr>
          <p:cNvPr id="17" name="step 3 text"/>
          <p:cNvSpPr txBox="1"/>
          <p:nvPr/>
        </p:nvSpPr>
        <p:spPr>
          <a:xfrm>
            <a:off x="8396935" y="4297680"/>
            <a:ext cx="3246120" cy="11887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Lets the employee rate the explanation, or ask HR to fix a wrong record.</a:t>
            </a:r>
            <a:endParaRPr lang="en-US" sz="16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Six people, six jobs</a:t>
            </a:r>
            <a:endParaRPr lang="en-US" sz="3600" dirty="0"/>
          </a:p>
        </p:txBody>
      </p:sp>
      <p:sp>
        <p:nvSpPr>
          <p:cNvPr id="3" name="role 1 card"/>
          <p:cNvSpPr/>
          <p:nvPr/>
        </p:nvSpPr>
        <p:spPr>
          <a:xfrm>
            <a:off x="548640" y="1417320"/>
            <a:ext cx="5364328" cy="1298448"/>
          </a:xfrm>
          <a:prstGeom prst="roundRect">
            <a:avLst>
              <a:gd name="adj" fmla="val 5634"/>
            </a:avLst>
          </a:prstGeom>
          <a:solidFill>
            <a:srgbClr val="EEF3F6"/>
          </a:solidFill>
          <a:ln/>
        </p:spPr>
      </p:sp>
      <p:sp>
        <p:nvSpPr>
          <p:cNvPr id="4" name="role 1 circle"/>
          <p:cNvSpPr/>
          <p:nvPr/>
        </p:nvSpPr>
        <p:spPr>
          <a:xfrm>
            <a:off x="822960" y="1700784"/>
            <a:ext cx="731520" cy="731520"/>
          </a:xfrm>
          <a:prstGeom prst="ellipse">
            <a:avLst/>
          </a:prstGeom>
          <a:solidFill>
            <a:srgbClr val="15807A"/>
          </a:solidFill>
          <a:ln/>
        </p:spPr>
      </p:sp>
      <p:pic>
        <p:nvPicPr>
          <p:cNvPr id="5" name="role 1 icon" descr="preencoded.png">    </p:cNvPr>
          <p:cNvPicPr>
            <a:picLocks noChangeAspect="1"/>
          </p:cNvPicPr>
          <p:nvPr/>
        </p:nvPicPr>
        <p:blipFill>
          <a:blip r:embed="rId1"/>
          <a:stretch>
            <a:fillRect/>
          </a:stretch>
        </p:blipFill>
        <p:spPr>
          <a:xfrm>
            <a:off x="998525" y="1876349"/>
            <a:ext cx="380390" cy="380390"/>
          </a:xfrm>
          <a:prstGeom prst="rect">
            <a:avLst/>
          </a:prstGeom>
        </p:spPr>
      </p:pic>
      <p:sp>
        <p:nvSpPr>
          <p:cNvPr id="6" name="role 1 name"/>
          <p:cNvSpPr txBox="1"/>
          <p:nvPr/>
        </p:nvSpPr>
        <p:spPr>
          <a:xfrm>
            <a:off x="1783080" y="1618488"/>
            <a:ext cx="3901288" cy="384048"/>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Employee</a:t>
            </a:r>
            <a:endParaRPr lang="en-US" sz="1900" dirty="0"/>
          </a:p>
        </p:txBody>
      </p:sp>
      <p:sp>
        <p:nvSpPr>
          <p:cNvPr id="7" name="role 1 text"/>
          <p:cNvSpPr txBox="1"/>
          <p:nvPr/>
        </p:nvSpPr>
        <p:spPr>
          <a:xfrm>
            <a:off x="1783080" y="2020824"/>
            <a:ext cx="3901288" cy="5943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Sees their score, the reasons and their path to promotion; answers back.</a:t>
            </a:r>
            <a:endParaRPr lang="en-US" sz="1500" dirty="0"/>
          </a:p>
        </p:txBody>
      </p:sp>
      <p:sp>
        <p:nvSpPr>
          <p:cNvPr id="8" name="role 2 card"/>
          <p:cNvSpPr/>
          <p:nvPr/>
        </p:nvSpPr>
        <p:spPr>
          <a:xfrm>
            <a:off x="6278728" y="1417320"/>
            <a:ext cx="5364328" cy="1298448"/>
          </a:xfrm>
          <a:prstGeom prst="roundRect">
            <a:avLst>
              <a:gd name="adj" fmla="val 5634"/>
            </a:avLst>
          </a:prstGeom>
          <a:solidFill>
            <a:srgbClr val="EEF3F6"/>
          </a:solidFill>
          <a:ln/>
        </p:spPr>
      </p:sp>
      <p:sp>
        <p:nvSpPr>
          <p:cNvPr id="9" name="role 2 circle"/>
          <p:cNvSpPr/>
          <p:nvPr/>
        </p:nvSpPr>
        <p:spPr>
          <a:xfrm>
            <a:off x="6553048" y="1700784"/>
            <a:ext cx="731520" cy="731520"/>
          </a:xfrm>
          <a:prstGeom prst="ellipse">
            <a:avLst/>
          </a:prstGeom>
          <a:solidFill>
            <a:srgbClr val="0F2A44"/>
          </a:solidFill>
          <a:ln/>
        </p:spPr>
      </p:sp>
      <p:pic>
        <p:nvPicPr>
          <p:cNvPr id="10" name="role 2 icon" descr="preencoded.png">    </p:cNvPr>
          <p:cNvPicPr>
            <a:picLocks noChangeAspect="1"/>
          </p:cNvPicPr>
          <p:nvPr/>
        </p:nvPicPr>
        <p:blipFill>
          <a:blip r:embed="rId2"/>
          <a:stretch>
            <a:fillRect/>
          </a:stretch>
        </p:blipFill>
        <p:spPr>
          <a:xfrm>
            <a:off x="6728612" y="1876349"/>
            <a:ext cx="380390" cy="380390"/>
          </a:xfrm>
          <a:prstGeom prst="rect">
            <a:avLst/>
          </a:prstGeom>
        </p:spPr>
      </p:pic>
      <p:sp>
        <p:nvSpPr>
          <p:cNvPr id="11" name="role 2 name"/>
          <p:cNvSpPr txBox="1"/>
          <p:nvPr/>
        </p:nvSpPr>
        <p:spPr>
          <a:xfrm>
            <a:off x="7513168" y="1618488"/>
            <a:ext cx="3901288" cy="384048"/>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Manager</a:t>
            </a:r>
            <a:endParaRPr lang="en-US" sz="1900" dirty="0"/>
          </a:p>
        </p:txBody>
      </p:sp>
      <p:sp>
        <p:nvSpPr>
          <p:cNvPr id="12" name="role 2 text"/>
          <p:cNvSpPr txBox="1"/>
          <p:nvPr/>
        </p:nvSpPr>
        <p:spPr>
          <a:xfrm>
            <a:off x="7513168" y="2020824"/>
            <a:ext cx="3901288" cy="5943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Sees their team and recommends people, with written reasons.</a:t>
            </a:r>
            <a:endParaRPr lang="en-US" sz="1500" dirty="0"/>
          </a:p>
        </p:txBody>
      </p:sp>
      <p:sp>
        <p:nvSpPr>
          <p:cNvPr id="13" name="role 3 card"/>
          <p:cNvSpPr/>
          <p:nvPr/>
        </p:nvSpPr>
        <p:spPr>
          <a:xfrm>
            <a:off x="548640" y="2944368"/>
            <a:ext cx="5364328" cy="1298448"/>
          </a:xfrm>
          <a:prstGeom prst="roundRect">
            <a:avLst>
              <a:gd name="adj" fmla="val 5634"/>
            </a:avLst>
          </a:prstGeom>
          <a:solidFill>
            <a:srgbClr val="EEF3F6"/>
          </a:solidFill>
          <a:ln/>
        </p:spPr>
      </p:sp>
      <p:sp>
        <p:nvSpPr>
          <p:cNvPr id="14" name="role 3 circle"/>
          <p:cNvSpPr/>
          <p:nvPr/>
        </p:nvSpPr>
        <p:spPr>
          <a:xfrm>
            <a:off x="822960" y="3227832"/>
            <a:ext cx="731520" cy="731520"/>
          </a:xfrm>
          <a:prstGeom prst="ellipse">
            <a:avLst/>
          </a:prstGeom>
          <a:solidFill>
            <a:srgbClr val="0F2A44"/>
          </a:solidFill>
          <a:ln/>
        </p:spPr>
      </p:sp>
      <p:pic>
        <p:nvPicPr>
          <p:cNvPr id="15" name="role 3 icon" descr="preencoded.png">    </p:cNvPr>
          <p:cNvPicPr>
            <a:picLocks noChangeAspect="1"/>
          </p:cNvPicPr>
          <p:nvPr/>
        </p:nvPicPr>
        <p:blipFill>
          <a:blip r:embed="rId3"/>
          <a:stretch>
            <a:fillRect/>
          </a:stretch>
        </p:blipFill>
        <p:spPr>
          <a:xfrm>
            <a:off x="998525" y="3403397"/>
            <a:ext cx="380390" cy="380390"/>
          </a:xfrm>
          <a:prstGeom prst="rect">
            <a:avLst/>
          </a:prstGeom>
        </p:spPr>
      </p:pic>
      <p:sp>
        <p:nvSpPr>
          <p:cNvPr id="16" name="role 3 name"/>
          <p:cNvSpPr txBox="1"/>
          <p:nvPr/>
        </p:nvSpPr>
        <p:spPr>
          <a:xfrm>
            <a:off x="1783080" y="3145536"/>
            <a:ext cx="3901288" cy="384048"/>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HR</a:t>
            </a:r>
            <a:endParaRPr lang="en-US" sz="1900" dirty="0"/>
          </a:p>
        </p:txBody>
      </p:sp>
      <p:sp>
        <p:nvSpPr>
          <p:cNvPr id="17" name="role 3 text"/>
          <p:cNvSpPr txBox="1"/>
          <p:nvPr/>
        </p:nvSpPr>
        <p:spPr>
          <a:xfrm>
            <a:off x="1783080" y="3547872"/>
            <a:ext cx="3901288" cy="5943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Makes the decision, fixes records with evidence, watches fairness.</a:t>
            </a:r>
            <a:endParaRPr lang="en-US" sz="1500" dirty="0"/>
          </a:p>
        </p:txBody>
      </p:sp>
      <p:sp>
        <p:nvSpPr>
          <p:cNvPr id="18" name="role 4 card"/>
          <p:cNvSpPr/>
          <p:nvPr/>
        </p:nvSpPr>
        <p:spPr>
          <a:xfrm>
            <a:off x="6278728" y="2944368"/>
            <a:ext cx="5364328" cy="1298448"/>
          </a:xfrm>
          <a:prstGeom prst="roundRect">
            <a:avLst>
              <a:gd name="adj" fmla="val 5634"/>
            </a:avLst>
          </a:prstGeom>
          <a:solidFill>
            <a:srgbClr val="EEF3F6"/>
          </a:solidFill>
          <a:ln/>
        </p:spPr>
      </p:sp>
      <p:sp>
        <p:nvSpPr>
          <p:cNvPr id="19" name="role 4 circle"/>
          <p:cNvSpPr/>
          <p:nvPr/>
        </p:nvSpPr>
        <p:spPr>
          <a:xfrm>
            <a:off x="6553048" y="3227832"/>
            <a:ext cx="731520" cy="731520"/>
          </a:xfrm>
          <a:prstGeom prst="ellipse">
            <a:avLst/>
          </a:prstGeom>
          <a:solidFill>
            <a:srgbClr val="0F2A44"/>
          </a:solidFill>
          <a:ln/>
        </p:spPr>
      </p:sp>
      <p:pic>
        <p:nvPicPr>
          <p:cNvPr id="20" name="role 4 icon" descr="preencoded.png">    </p:cNvPr>
          <p:cNvPicPr>
            <a:picLocks noChangeAspect="1"/>
          </p:cNvPicPr>
          <p:nvPr/>
        </p:nvPicPr>
        <p:blipFill>
          <a:blip r:embed="rId4"/>
          <a:stretch>
            <a:fillRect/>
          </a:stretch>
        </p:blipFill>
        <p:spPr>
          <a:xfrm>
            <a:off x="6728612" y="3403397"/>
            <a:ext cx="380390" cy="380390"/>
          </a:xfrm>
          <a:prstGeom prst="rect">
            <a:avLst/>
          </a:prstGeom>
        </p:spPr>
      </p:pic>
      <p:sp>
        <p:nvSpPr>
          <p:cNvPr id="21" name="role 4 name"/>
          <p:cNvSpPr txBox="1"/>
          <p:nvPr/>
        </p:nvSpPr>
        <p:spPr>
          <a:xfrm>
            <a:off x="7513168" y="3145536"/>
            <a:ext cx="3901288" cy="384048"/>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Finance</a:t>
            </a:r>
            <a:endParaRPr lang="en-US" sz="1900" dirty="0"/>
          </a:p>
        </p:txBody>
      </p:sp>
      <p:sp>
        <p:nvSpPr>
          <p:cNvPr id="22" name="role 4 text"/>
          <p:cNvSpPr txBox="1"/>
          <p:nvPr/>
        </p:nvSpPr>
        <p:spPr>
          <a:xfrm>
            <a:off x="7513168" y="3547872"/>
            <a:ext cx="3901288" cy="5943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Signs off the pay rise. Never sees scores or ratings.</a:t>
            </a:r>
            <a:endParaRPr lang="en-US" sz="1500" dirty="0"/>
          </a:p>
        </p:txBody>
      </p:sp>
      <p:sp>
        <p:nvSpPr>
          <p:cNvPr id="23" name="role 5 card"/>
          <p:cNvSpPr/>
          <p:nvPr/>
        </p:nvSpPr>
        <p:spPr>
          <a:xfrm>
            <a:off x="548640" y="4471416"/>
            <a:ext cx="5364328" cy="1298448"/>
          </a:xfrm>
          <a:prstGeom prst="roundRect">
            <a:avLst>
              <a:gd name="adj" fmla="val 5634"/>
            </a:avLst>
          </a:prstGeom>
          <a:solidFill>
            <a:srgbClr val="EEF3F6"/>
          </a:solidFill>
          <a:ln/>
        </p:spPr>
      </p:sp>
      <p:sp>
        <p:nvSpPr>
          <p:cNvPr id="24" name="role 5 circle"/>
          <p:cNvSpPr/>
          <p:nvPr/>
        </p:nvSpPr>
        <p:spPr>
          <a:xfrm>
            <a:off x="822960" y="4754880"/>
            <a:ext cx="731520" cy="731520"/>
          </a:xfrm>
          <a:prstGeom prst="ellipse">
            <a:avLst/>
          </a:prstGeom>
          <a:solidFill>
            <a:srgbClr val="0F2A44"/>
          </a:solidFill>
          <a:ln/>
        </p:spPr>
      </p:sp>
      <p:pic>
        <p:nvPicPr>
          <p:cNvPr id="25" name="role 5 icon" descr="preencoded.png">    </p:cNvPr>
          <p:cNvPicPr>
            <a:picLocks noChangeAspect="1"/>
          </p:cNvPicPr>
          <p:nvPr/>
        </p:nvPicPr>
        <p:blipFill>
          <a:blip r:embed="rId5"/>
          <a:stretch>
            <a:fillRect/>
          </a:stretch>
        </p:blipFill>
        <p:spPr>
          <a:xfrm>
            <a:off x="998525" y="4930445"/>
            <a:ext cx="380390" cy="380390"/>
          </a:xfrm>
          <a:prstGeom prst="rect">
            <a:avLst/>
          </a:prstGeom>
        </p:spPr>
      </p:pic>
      <p:sp>
        <p:nvSpPr>
          <p:cNvPr id="26" name="role 5 name"/>
          <p:cNvSpPr txBox="1"/>
          <p:nvPr/>
        </p:nvSpPr>
        <p:spPr>
          <a:xfrm>
            <a:off x="1783080" y="4672584"/>
            <a:ext cx="3901288" cy="384048"/>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Admin</a:t>
            </a:r>
            <a:endParaRPr lang="en-US" sz="1900" dirty="0"/>
          </a:p>
        </p:txBody>
      </p:sp>
      <p:sp>
        <p:nvSpPr>
          <p:cNvPr id="27" name="role 5 text"/>
          <p:cNvSpPr txBox="1"/>
          <p:nvPr/>
        </p:nvSpPr>
        <p:spPr>
          <a:xfrm>
            <a:off x="1783080" y="5074920"/>
            <a:ext cx="3901288" cy="5943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Runs accounts and keeps the system healthy.</a:t>
            </a:r>
            <a:endParaRPr lang="en-US" sz="1500" dirty="0"/>
          </a:p>
        </p:txBody>
      </p:sp>
      <p:sp>
        <p:nvSpPr>
          <p:cNvPr id="28" name="role 6 card"/>
          <p:cNvSpPr/>
          <p:nvPr/>
        </p:nvSpPr>
        <p:spPr>
          <a:xfrm>
            <a:off x="6278728" y="4471416"/>
            <a:ext cx="5364328" cy="1298448"/>
          </a:xfrm>
          <a:prstGeom prst="roundRect">
            <a:avLst>
              <a:gd name="adj" fmla="val 5634"/>
            </a:avLst>
          </a:prstGeom>
          <a:solidFill>
            <a:srgbClr val="EEF3F6"/>
          </a:solidFill>
          <a:ln/>
        </p:spPr>
      </p:sp>
      <p:sp>
        <p:nvSpPr>
          <p:cNvPr id="29" name="role 6 circle"/>
          <p:cNvSpPr/>
          <p:nvPr/>
        </p:nvSpPr>
        <p:spPr>
          <a:xfrm>
            <a:off x="6553048" y="4754880"/>
            <a:ext cx="731520" cy="731520"/>
          </a:xfrm>
          <a:prstGeom prst="ellipse">
            <a:avLst/>
          </a:prstGeom>
          <a:solidFill>
            <a:srgbClr val="0F2A44"/>
          </a:solidFill>
          <a:ln/>
        </p:spPr>
      </p:sp>
      <p:pic>
        <p:nvPicPr>
          <p:cNvPr id="30" name="role 6 icon" descr="preencoded.png">    </p:cNvPr>
          <p:cNvPicPr>
            <a:picLocks noChangeAspect="1"/>
          </p:cNvPicPr>
          <p:nvPr/>
        </p:nvPicPr>
        <p:blipFill>
          <a:blip r:embed="rId6"/>
          <a:stretch>
            <a:fillRect/>
          </a:stretch>
        </p:blipFill>
        <p:spPr>
          <a:xfrm>
            <a:off x="6728612" y="4930445"/>
            <a:ext cx="380390" cy="380390"/>
          </a:xfrm>
          <a:prstGeom prst="rect">
            <a:avLst/>
          </a:prstGeom>
        </p:spPr>
      </p:pic>
      <p:sp>
        <p:nvSpPr>
          <p:cNvPr id="31" name="role 6 name"/>
          <p:cNvSpPr txBox="1"/>
          <p:nvPr/>
        </p:nvSpPr>
        <p:spPr>
          <a:xfrm>
            <a:off x="7513168" y="4672584"/>
            <a:ext cx="3901288" cy="384048"/>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Auditor</a:t>
            </a:r>
            <a:endParaRPr lang="en-US" sz="1900" dirty="0"/>
          </a:p>
        </p:txBody>
      </p:sp>
      <p:sp>
        <p:nvSpPr>
          <p:cNvPr id="32" name="role 6 text"/>
          <p:cNvSpPr txBox="1"/>
          <p:nvPr/>
        </p:nvSpPr>
        <p:spPr>
          <a:xfrm>
            <a:off x="7513168" y="5074920"/>
            <a:ext cx="3901288" cy="5943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Checks every decision, read-only. Sees totals, never private feedback.</a:t>
            </a:r>
            <a:endParaRPr lang="en-US" sz="15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redict badge circle"/>
          <p:cNvSpPr/>
          <p:nvPr/>
        </p:nvSpPr>
        <p:spPr>
          <a:xfrm>
            <a:off x="548640" y="2514600"/>
            <a:ext cx="1371600" cy="1371600"/>
          </a:xfrm>
          <a:prstGeom prst="ellipse">
            <a:avLst/>
          </a:prstGeom>
          <a:solidFill>
            <a:srgbClr val="15807A"/>
          </a:solidFill>
          <a:ln/>
        </p:spPr>
      </p:sp>
      <p:pic>
        <p:nvPicPr>
          <p:cNvPr id="3" name="predict badge icon" descr="preencoded.png">    </p:cNvPr>
          <p:cNvPicPr>
            <a:picLocks noChangeAspect="1"/>
          </p:cNvPicPr>
          <p:nvPr/>
        </p:nvPicPr>
        <p:blipFill>
          <a:blip r:embed="rId1"/>
          <a:stretch>
            <a:fillRect/>
          </a:stretch>
        </p:blipFill>
        <p:spPr>
          <a:xfrm>
            <a:off x="877824" y="2843784"/>
            <a:ext cx="713232" cy="713232"/>
          </a:xfrm>
          <a:prstGeom prst="rect">
            <a:avLst/>
          </a:prstGeom>
        </p:spPr>
      </p:pic>
      <p:sp>
        <p:nvSpPr>
          <p:cNvPr id="4" name="Text 0"/>
          <p:cNvSpPr/>
          <p:nvPr>
            <p:ph idx="100" type="title" hasCustomPrompt="1"/>
          </p:nvPr>
        </p:nvSpPr>
        <p:spPr>
          <a:xfrm>
            <a:off x="2286000" y="2514600"/>
            <a:ext cx="8961120" cy="100584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Step 1 · Predict</a:t>
            </a:r>
            <a:endParaRPr lang="en-US" sz="4400" dirty="0"/>
          </a:p>
        </p:txBody>
      </p:sp>
      <p:sp>
        <p:nvSpPr>
          <p:cNvPr id="5" name="Text 0"/>
          <p:cNvSpPr/>
          <p:nvPr>
            <p:ph idx="101" type="body" hasCustomPrompt="1"/>
          </p:nvPr>
        </p:nvSpPr>
        <p:spPr>
          <a:xfrm>
            <a:off x="2286000" y="3520440"/>
            <a:ext cx="8961120" cy="822960"/>
          </a:xfrm>
          <a:prstGeom prst="rect">
            <a:avLst/>
          </a:prstGeom>
          <a:noFill/>
          <a:ln/>
        </p:spPr>
        <p:txBody>
          <a:bodyPr wrap="square" lIns="0" tIns="0" rIns="0" bIns="0" rtlCol="0" anchor="t"/>
          <a:lstStyle/>
          <a:p>
            <a:pPr algn="l" indent="0" marL="0">
              <a:buNone/>
            </a:pPr>
            <a:r>
              <a:rPr lang="en-US" sz="2200" dirty="0">
                <a:solidFill>
                  <a:schemeClr val="bg1"/>
                </a:solidFill>
                <a:latin typeface="Calibri" pitchFamily="34" charset="0"/>
                <a:ea typeface="Calibri" pitchFamily="34" charset="-122"/>
                <a:cs typeface="Calibri" pitchFamily="34" charset="-120"/>
              </a:rPr>
              <a:t>How ready is someone for promotion?</a:t>
            </a:r>
            <a:endParaRPr lang="en-US" sz="22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9D3E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It learned from 100,000 past cases</a:t>
            </a:r>
            <a:endParaRPr lang="en-US" sz="3600" dirty="0"/>
          </a:p>
        </p:txBody>
      </p:sp>
      <p:sp>
        <p:nvSpPr>
          <p:cNvPr id="3" name="stat 1 number"/>
          <p:cNvSpPr txBox="1"/>
          <p:nvPr/>
        </p:nvSpPr>
        <p:spPr>
          <a:xfrm>
            <a:off x="548640" y="1554480"/>
            <a:ext cx="2514600" cy="86868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100,000</a:t>
            </a:r>
            <a:endParaRPr lang="en-US" sz="4400" dirty="0"/>
          </a:p>
        </p:txBody>
      </p:sp>
      <p:sp>
        <p:nvSpPr>
          <p:cNvPr id="4" name="stat 1 label"/>
          <p:cNvSpPr txBox="1"/>
          <p:nvPr/>
        </p:nvSpPr>
        <p:spPr>
          <a:xfrm>
            <a:off x="548640" y="2468880"/>
            <a:ext cx="2286000" cy="685800"/>
          </a:xfrm>
          <a:prstGeom prst="rect">
            <a:avLst/>
          </a:prstGeom>
          <a:noFill/>
          <a:ln/>
        </p:spPr>
        <p:txBody>
          <a:bodyPr wrap="square" lIns="0" tIns="0" rIns="0" bIns="0" rtlCol="0" anchor="t"/>
          <a:lstStyle/>
          <a:p>
            <a:pPr indent="0" marL="0">
              <a:buNone/>
            </a:pPr>
            <a:r>
              <a:rPr lang="en-US" sz="1500" dirty="0">
                <a:solidFill>
                  <a:srgbClr val="5B6B7C"/>
                </a:solidFill>
                <a:latin typeface="Calibri" pitchFamily="34" charset="0"/>
                <a:ea typeface="Calibri" pitchFamily="34" charset="-122"/>
                <a:cs typeface="Calibri" pitchFamily="34" charset="-120"/>
              </a:rPr>
              <a:t>past employee records studied</a:t>
            </a:r>
            <a:endParaRPr lang="en-US" sz="1500" dirty="0"/>
          </a:p>
        </p:txBody>
      </p:sp>
      <p:sp>
        <p:nvSpPr>
          <p:cNvPr id="5" name="stat 2 number"/>
          <p:cNvSpPr txBox="1"/>
          <p:nvPr/>
        </p:nvSpPr>
        <p:spPr>
          <a:xfrm>
            <a:off x="3154680" y="1554480"/>
            <a:ext cx="2514600" cy="868680"/>
          </a:xfrm>
          <a:prstGeom prst="rect">
            <a:avLst/>
          </a:prstGeom>
          <a:noFill/>
          <a:ln/>
        </p:spPr>
        <p:txBody>
          <a:bodyPr wrap="square" lIns="0" tIns="0" rIns="0" bIns="0" rtlCol="0" anchor="t"/>
          <a:lstStyle/>
          <a:p>
            <a:pPr indent="0" marL="0">
              <a:buNone/>
            </a:pPr>
            <a:r>
              <a:rPr lang="en-US" sz="4400" b="1" dirty="0">
                <a:solidFill>
                  <a:schemeClr val="tx2"/>
                </a:solidFill>
                <a:latin typeface="Cambria" pitchFamily="34" charset="0"/>
                <a:ea typeface="Cambria" pitchFamily="34" charset="-122"/>
                <a:cs typeface="Cambria" pitchFamily="34" charset="-120"/>
              </a:rPr>
              <a:t>20</a:t>
            </a:r>
            <a:endParaRPr lang="en-US" sz="4400" dirty="0"/>
          </a:p>
        </p:txBody>
      </p:sp>
      <p:sp>
        <p:nvSpPr>
          <p:cNvPr id="6" name="stat 2 label"/>
          <p:cNvSpPr txBox="1"/>
          <p:nvPr/>
        </p:nvSpPr>
        <p:spPr>
          <a:xfrm>
            <a:off x="3154680" y="2468880"/>
            <a:ext cx="2286000" cy="685800"/>
          </a:xfrm>
          <a:prstGeom prst="rect">
            <a:avLst/>
          </a:prstGeom>
          <a:noFill/>
          <a:ln/>
        </p:spPr>
        <p:txBody>
          <a:bodyPr wrap="square" lIns="0" tIns="0" rIns="0" bIns="0" rtlCol="0" anchor="t"/>
          <a:lstStyle/>
          <a:p>
            <a:pPr indent="0" marL="0">
              <a:buNone/>
            </a:pPr>
            <a:r>
              <a:rPr lang="en-US" sz="1500" dirty="0">
                <a:solidFill>
                  <a:srgbClr val="5B6B7C"/>
                </a:solidFill>
                <a:latin typeface="Calibri" pitchFamily="34" charset="0"/>
                <a:ea typeface="Calibri" pitchFamily="34" charset="-122"/>
                <a:cs typeface="Calibri" pitchFamily="34" charset="-120"/>
              </a:rPr>
              <a:t>facts about each person's work</a:t>
            </a:r>
            <a:endParaRPr lang="en-US" sz="1500" dirty="0"/>
          </a:p>
        </p:txBody>
      </p:sp>
      <p:sp>
        <p:nvSpPr>
          <p:cNvPr id="7" name="stat 3 number"/>
          <p:cNvSpPr txBox="1"/>
          <p:nvPr/>
        </p:nvSpPr>
        <p:spPr>
          <a:xfrm>
            <a:off x="5760720" y="1554480"/>
            <a:ext cx="2514600" cy="868680"/>
          </a:xfrm>
          <a:prstGeom prst="rect">
            <a:avLst/>
          </a:prstGeom>
          <a:noFill/>
          <a:ln/>
        </p:spPr>
        <p:txBody>
          <a:bodyPr wrap="square" lIns="0" tIns="0" rIns="0" bIns="0" rtlCol="0" anchor="t"/>
          <a:lstStyle/>
          <a:p>
            <a:pPr indent="0" marL="0">
              <a:buNone/>
            </a:pPr>
            <a:r>
              <a:rPr lang="en-US" sz="4400" b="1" dirty="0">
                <a:solidFill>
                  <a:schemeClr val="tx2"/>
                </a:solidFill>
                <a:latin typeface="Cambria" pitchFamily="34" charset="0"/>
                <a:ea typeface="Cambria" pitchFamily="34" charset="-122"/>
                <a:cs typeface="Cambria" pitchFamily="34" charset="-120"/>
              </a:rPr>
              <a:t>1 in 10</a:t>
            </a:r>
            <a:endParaRPr lang="en-US" sz="4400" dirty="0"/>
          </a:p>
        </p:txBody>
      </p:sp>
      <p:sp>
        <p:nvSpPr>
          <p:cNvPr id="8" name="stat 3 label"/>
          <p:cNvSpPr txBox="1"/>
          <p:nvPr/>
        </p:nvSpPr>
        <p:spPr>
          <a:xfrm>
            <a:off x="5760720" y="2468880"/>
            <a:ext cx="2286000" cy="685800"/>
          </a:xfrm>
          <a:prstGeom prst="rect">
            <a:avLst/>
          </a:prstGeom>
          <a:noFill/>
          <a:ln/>
        </p:spPr>
        <p:txBody>
          <a:bodyPr wrap="square" lIns="0" tIns="0" rIns="0" bIns="0" rtlCol="0" anchor="t"/>
          <a:lstStyle/>
          <a:p>
            <a:pPr indent="0" marL="0">
              <a:buNone/>
            </a:pPr>
            <a:r>
              <a:rPr lang="en-US" sz="1500" dirty="0">
                <a:solidFill>
                  <a:srgbClr val="5B6B7C"/>
                </a:solidFill>
                <a:latin typeface="Calibri" pitchFamily="34" charset="0"/>
                <a:ea typeface="Calibri" pitchFamily="34" charset="-122"/>
                <a:cs typeface="Calibri" pitchFamily="34" charset="-120"/>
              </a:rPr>
              <a:t>of them had been promoted</a:t>
            </a:r>
            <a:endParaRPr lang="en-US" sz="1500" dirty="0"/>
          </a:p>
        </p:txBody>
      </p:sp>
      <p:sp>
        <p:nvSpPr>
          <p:cNvPr id="9" name="explanation"/>
          <p:cNvSpPr txBox="1"/>
          <p:nvPr/>
        </p:nvSpPr>
        <p:spPr>
          <a:xfrm>
            <a:off x="548640" y="3520440"/>
            <a:ext cx="6766560" cy="256032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Like an experienced reviewer</a:t>
            </a:r>
            <a:endParaRPr lang="en-US" sz="1600" dirty="0"/>
          </a:p>
          <a:p>
            <a:pPr indent="0" marL="0">
              <a:buNone/>
            </a:pPr>
            <a:r>
              <a:rPr lang="en-US" sz="1600" dirty="0">
                <a:solidFill>
                  <a:schemeClr val="tx1"/>
                </a:solidFill>
                <a:latin typeface="Calibri" pitchFamily="34" charset="0"/>
                <a:ea typeface="Calibri" pitchFamily="34" charset="-122"/>
                <a:cs typeface="Calibri" pitchFamily="34" charset="-120"/>
              </a:rPr>
              <a:t>Someone who has looked at 100,000 cases starts to notice which work records tend to lead to promotion. The model does the same, but it writes down exactly how much each fact counts, so it can always explain itself.</a:t>
            </a:r>
            <a:endParaRPr lang="en-US" sz="16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chemeClr val="tx2"/>
                </a:solidFill>
                <a:latin typeface="Calibri" pitchFamily="34" charset="0"/>
                <a:ea typeface="Calibri" pitchFamily="34" charset="-122"/>
                <a:cs typeface="Calibri" pitchFamily="34" charset="-120"/>
              </a:rPr>
              <a:t>No real person's data</a:t>
            </a:r>
            <a:endParaRPr lang="en-US" sz="1600" dirty="0"/>
          </a:p>
          <a:p>
            <a:pPr indent="0" marL="0">
              <a:buNone/>
            </a:pPr>
            <a:r>
              <a:rPr lang="en-US" sz="1600" dirty="0">
                <a:solidFill>
                  <a:schemeClr val="tx1"/>
                </a:solidFill>
                <a:latin typeface="Calibri" pitchFamily="34" charset="0"/>
                <a:ea typeface="Calibri" pitchFamily="34" charset="-122"/>
                <a:cs typeface="Calibri" pitchFamily="34" charset="-120"/>
              </a:rPr>
              <a:t>Every record is simulated (a free public dataset from Kaggle), so nobody's privacy was at risk while building and testing it.</a:t>
            </a:r>
            <a:endParaRPr lang="en-US" sz="1600" dirty="0"/>
          </a:p>
        </p:txBody>
      </p:sp>
      <p:sp>
        <p:nvSpPr>
          <p:cNvPr id="10" name="data badge circle"/>
          <p:cNvSpPr/>
          <p:nvPr/>
        </p:nvSpPr>
        <p:spPr>
          <a:xfrm>
            <a:off x="8229600" y="1737360"/>
            <a:ext cx="3108960" cy="3108960"/>
          </a:xfrm>
          <a:prstGeom prst="ellipse">
            <a:avLst/>
          </a:prstGeom>
          <a:solidFill>
            <a:srgbClr val="EEF3F6"/>
          </a:solidFill>
          <a:ln/>
        </p:spPr>
      </p:sp>
      <p:pic>
        <p:nvPicPr>
          <p:cNvPr id="11" name="data badge icon" descr="preencoded.png">    </p:cNvPr>
          <p:cNvPicPr>
            <a:picLocks noChangeAspect="1"/>
          </p:cNvPicPr>
          <p:nvPr/>
        </p:nvPicPr>
        <p:blipFill>
          <a:blip r:embed="rId1"/>
          <a:stretch>
            <a:fillRect/>
          </a:stretch>
        </p:blipFill>
        <p:spPr>
          <a:xfrm>
            <a:off x="8975750" y="2483510"/>
            <a:ext cx="1616659" cy="1616659"/>
          </a:xfrm>
          <a:prstGeom prst="rect">
            <a:avLst/>
          </a:prstGeom>
        </p:spPr>
      </p:pic>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It looks at work, never at who you are</a:t>
            </a:r>
            <a:endParaRPr lang="en-US" sz="3600" dirty="0"/>
          </a:p>
        </p:txBody>
      </p:sp>
      <p:sp>
        <p:nvSpPr>
          <p:cNvPr id="3" name="uses card"/>
          <p:cNvSpPr/>
          <p:nvPr/>
        </p:nvSpPr>
        <p:spPr>
          <a:xfrm>
            <a:off x="548640" y="1417320"/>
            <a:ext cx="5318608" cy="3749040"/>
          </a:xfrm>
          <a:prstGeom prst="roundRect">
            <a:avLst>
              <a:gd name="adj" fmla="val 1951"/>
            </a:avLst>
          </a:prstGeom>
          <a:solidFill>
            <a:srgbClr val="DDF0EE"/>
          </a:solidFill>
          <a:ln/>
        </p:spPr>
      </p:sp>
      <p:sp>
        <p:nvSpPr>
          <p:cNvPr id="4" name="uses circle"/>
          <p:cNvSpPr/>
          <p:nvPr/>
        </p:nvSpPr>
        <p:spPr>
          <a:xfrm>
            <a:off x="822960" y="1645920"/>
            <a:ext cx="566928" cy="566928"/>
          </a:xfrm>
          <a:prstGeom prst="ellipse">
            <a:avLst/>
          </a:prstGeom>
          <a:solidFill>
            <a:srgbClr val="15807A"/>
          </a:solidFill>
          <a:ln/>
        </p:spPr>
      </p:sp>
      <p:pic>
        <p:nvPicPr>
          <p:cNvPr id="5" name="uses icon" descr="preencoded.png">    </p:cNvPr>
          <p:cNvPicPr>
            <a:picLocks noChangeAspect="1"/>
          </p:cNvPicPr>
          <p:nvPr/>
        </p:nvPicPr>
        <p:blipFill>
          <a:blip r:embed="rId1"/>
          <a:stretch>
            <a:fillRect/>
          </a:stretch>
        </p:blipFill>
        <p:spPr>
          <a:xfrm>
            <a:off x="959023" y="1781983"/>
            <a:ext cx="294803" cy="294803"/>
          </a:xfrm>
          <a:prstGeom prst="rect">
            <a:avLst/>
          </a:prstGeom>
        </p:spPr>
      </p:pic>
      <p:sp>
        <p:nvSpPr>
          <p:cNvPr id="6" name="uses heading"/>
          <p:cNvSpPr txBox="1"/>
          <p:nvPr/>
        </p:nvSpPr>
        <p:spPr>
          <a:xfrm>
            <a:off x="1554480" y="1719072"/>
            <a:ext cx="4038448" cy="457200"/>
          </a:xfrm>
          <a:prstGeom prst="rect">
            <a:avLst/>
          </a:prstGeom>
          <a:noFill/>
          <a:ln/>
        </p:spPr>
        <p:txBody>
          <a:bodyPr wrap="square" lIns="0" tIns="0" rIns="0" bIns="0" rtlCol="0" anchor="t"/>
          <a:lstStyle/>
          <a:p>
            <a:pPr indent="0" marL="0">
              <a:buNone/>
            </a:pPr>
            <a:r>
              <a:rPr lang="en-US" sz="2100" b="1" dirty="0">
                <a:solidFill>
                  <a:schemeClr val="tx2"/>
                </a:solidFill>
                <a:latin typeface="Calibri" pitchFamily="34" charset="0"/>
                <a:ea typeface="Calibri" pitchFamily="34" charset="-122"/>
                <a:cs typeface="Calibri" pitchFamily="34" charset="-120"/>
              </a:rPr>
              <a:t>What it uses</a:t>
            </a:r>
            <a:endParaRPr lang="en-US" sz="2100" dirty="0"/>
          </a:p>
        </p:txBody>
      </p:sp>
      <p:sp>
        <p:nvSpPr>
          <p:cNvPr id="7" name="uses list"/>
          <p:cNvSpPr txBox="1"/>
          <p:nvPr/>
        </p:nvSpPr>
        <p:spPr>
          <a:xfrm>
            <a:off x="868680" y="2423160"/>
            <a:ext cx="4678528" cy="33832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Performance: scores, ratings, targets met, projects and tasks</a:t>
            </a:r>
            <a:endParaRPr lang="en-US" sz="1700" dirty="0"/>
          </a:p>
          <a:p>
            <a:pPr marL="228600" indent="-2286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Growth: training, certificates, mentoring, cross-team work</a:t>
            </a:r>
            <a:endParaRPr lang="en-US" sz="1700" dirty="0"/>
          </a:p>
          <a:p>
            <a:pPr marL="228600" indent="-2286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Reliability: attendance and lateness</a:t>
            </a:r>
            <a:endParaRPr lang="en-US" sz="1700" dirty="0"/>
          </a:p>
          <a:p>
            <a:pPr marL="228600" indent="-2286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Career stage: time since last promotion, time in role</a:t>
            </a:r>
            <a:endParaRPr lang="en-US" sz="1700" dirty="0"/>
          </a:p>
        </p:txBody>
      </p:sp>
      <p:sp>
        <p:nvSpPr>
          <p:cNvPr id="8" name="never card"/>
          <p:cNvSpPr/>
          <p:nvPr/>
        </p:nvSpPr>
        <p:spPr>
          <a:xfrm>
            <a:off x="6324448" y="1417320"/>
            <a:ext cx="5318608" cy="3749040"/>
          </a:xfrm>
          <a:prstGeom prst="roundRect">
            <a:avLst>
              <a:gd name="adj" fmla="val 1951"/>
            </a:avLst>
          </a:prstGeom>
          <a:solidFill>
            <a:srgbClr val="FBE6DC"/>
          </a:solidFill>
          <a:ln/>
        </p:spPr>
      </p:sp>
      <p:sp>
        <p:nvSpPr>
          <p:cNvPr id="9" name="never circle"/>
          <p:cNvSpPr/>
          <p:nvPr/>
        </p:nvSpPr>
        <p:spPr>
          <a:xfrm>
            <a:off x="6598768" y="1645920"/>
            <a:ext cx="566928" cy="566928"/>
          </a:xfrm>
          <a:prstGeom prst="ellipse">
            <a:avLst/>
          </a:prstGeom>
          <a:solidFill>
            <a:srgbClr val="C2410C"/>
          </a:solidFill>
          <a:ln/>
        </p:spPr>
      </p:sp>
      <p:pic>
        <p:nvPicPr>
          <p:cNvPr id="10" name="never icon" descr="preencoded.png">    </p:cNvPr>
          <p:cNvPicPr>
            <a:picLocks noChangeAspect="1"/>
          </p:cNvPicPr>
          <p:nvPr/>
        </p:nvPicPr>
        <p:blipFill>
          <a:blip r:embed="rId2"/>
          <a:stretch>
            <a:fillRect/>
          </a:stretch>
        </p:blipFill>
        <p:spPr>
          <a:xfrm>
            <a:off x="6734830" y="1781983"/>
            <a:ext cx="294803" cy="294803"/>
          </a:xfrm>
          <a:prstGeom prst="rect">
            <a:avLst/>
          </a:prstGeom>
        </p:spPr>
      </p:pic>
      <p:sp>
        <p:nvSpPr>
          <p:cNvPr id="11" name="never heading"/>
          <p:cNvSpPr txBox="1"/>
          <p:nvPr/>
        </p:nvSpPr>
        <p:spPr>
          <a:xfrm>
            <a:off x="7330288" y="1719072"/>
            <a:ext cx="4038448" cy="457200"/>
          </a:xfrm>
          <a:prstGeom prst="rect">
            <a:avLst/>
          </a:prstGeom>
          <a:noFill/>
          <a:ln/>
        </p:spPr>
        <p:txBody>
          <a:bodyPr wrap="square" lIns="0" tIns="0" rIns="0" bIns="0" rtlCol="0" anchor="t"/>
          <a:lstStyle/>
          <a:p>
            <a:pPr indent="0" marL="0">
              <a:buNone/>
            </a:pPr>
            <a:r>
              <a:rPr lang="en-US" sz="2100" b="1" dirty="0">
                <a:solidFill>
                  <a:schemeClr val="tx2"/>
                </a:solidFill>
                <a:latin typeface="Calibri" pitchFamily="34" charset="0"/>
                <a:ea typeface="Calibri" pitchFamily="34" charset="-122"/>
                <a:cs typeface="Calibri" pitchFamily="34" charset="-120"/>
              </a:rPr>
              <a:t>What it never sees</a:t>
            </a:r>
            <a:endParaRPr lang="en-US" sz="2100" dirty="0"/>
          </a:p>
        </p:txBody>
      </p:sp>
      <p:sp>
        <p:nvSpPr>
          <p:cNvPr id="12" name="never list"/>
          <p:cNvSpPr txBox="1"/>
          <p:nvPr/>
        </p:nvSpPr>
        <p:spPr>
          <a:xfrm>
            <a:off x="6644488" y="2423160"/>
            <a:ext cx="4678528" cy="33832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Gender, age, education, marital status</a:t>
            </a:r>
            <a:endParaRPr lang="en-US" sz="1700" dirty="0"/>
          </a:p>
          <a:p>
            <a:pPr marL="228600" indent="-2286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Department: so where you work can't decide for you</a:t>
            </a:r>
            <a:endParaRPr lang="en-US" sz="1700" dirty="0"/>
          </a:p>
          <a:p>
            <a:pPr marL="228600" indent="-2286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Pay: so old pay gaps aren't carried forward</a:t>
            </a:r>
            <a:endParaRPr lang="en-US" sz="1700" dirty="0"/>
          </a:p>
          <a:p>
            <a:pPr marL="228600" indent="-2286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Working hours: results count, not long hours</a:t>
            </a:r>
            <a:endParaRPr lang="en-US" sz="17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It never punishes improvement</a:t>
            </a:r>
            <a:endParaRPr lang="en-US" sz="3600" dirty="0"/>
          </a:p>
        </p:txBody>
      </p:sp>
      <p:graphicFrame>
        <p:nvGraphicFramePr>
          <p:cNvPr id="3" name="monotonic chart" descr=""/>
          <p:cNvGraphicFramePr/>
          <p:nvPr/>
        </p:nvGraphicFramePr>
        <p:xfrm>
          <a:off x="548640" y="141732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test explanation"/>
          <p:cNvSpPr txBox="1"/>
          <p:nvPr/>
        </p:nvSpPr>
        <p:spPr>
          <a:xfrm>
            <a:off x="7680960" y="1600200"/>
            <a:ext cx="3959352" cy="411480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The common-sense test</a:t>
            </a:r>
            <a:endParaRPr lang="en-US" sz="1600" dirty="0"/>
          </a:p>
          <a:p>
            <a:pPr indent="0" marL="0">
              <a:buNone/>
            </a:pPr>
            <a:r>
              <a:rPr lang="en-US" sz="1600" dirty="0">
                <a:solidFill>
                  <a:schemeClr val="tx1"/>
                </a:solidFill>
                <a:latin typeface="Calibri" pitchFamily="34" charset="0"/>
                <a:ea typeface="Calibri" pitchFamily="34" charset="-122"/>
                <a:cs typeface="Calibri" pitchFamily="34" charset="-120"/>
              </a:rPr>
              <a:t>We trained four kinds of model, then nudged 2,000 people's records in a better direction: more training, better feedback, more projects.</a:t>
            </a:r>
            <a:endParaRPr lang="en-US" sz="16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600" dirty="0"/>
          </a:p>
          <a:p>
            <a:pPr indent="0" marL="0">
              <a:buNone/>
            </a:pPr>
            <a:r>
              <a:rPr lang="en-US" sz="1600" dirty="0">
                <a:solidFill>
                  <a:schemeClr val="tx1"/>
                </a:solidFill>
                <a:latin typeface="Calibri" pitchFamily="34" charset="0"/>
                <a:ea typeface="Calibri" pitchFamily="34" charset="-122"/>
                <a:cs typeface="Calibri" pitchFamily="34" charset="-120"/>
              </a:rPr>
              <a:t>Three models sometimes gave a </a:t>
            </a:r>
            <a:pPr indent="0" marL="0">
              <a:buNone/>
            </a:pPr>
            <a:r>
              <a:rPr lang="en-US" sz="1600" b="1" dirty="0">
                <a:solidFill>
                  <a:schemeClr val="accent2"/>
                </a:solidFill>
                <a:latin typeface="Calibri" pitchFamily="34" charset="0"/>
                <a:ea typeface="Calibri" pitchFamily="34" charset="-122"/>
                <a:cs typeface="Calibri" pitchFamily="34" charset="-120"/>
              </a:rPr>
              <a:t>lower</a:t>
            </a:r>
            <a:pPr indent="0" marL="0">
              <a:buNone/>
            </a:pPr>
            <a:r>
              <a:rPr lang="en-US" sz="1600" dirty="0">
                <a:solidFill>
                  <a:schemeClr val="tx1"/>
                </a:solidFill>
                <a:latin typeface="Calibri" pitchFamily="34" charset="0"/>
                <a:ea typeface="Calibri" pitchFamily="34" charset="-122"/>
                <a:cs typeface="Calibri" pitchFamily="34" charset="-120"/>
              </a:rPr>
              <a:t> score for a better record. Only one never did, so that is the one MeritLens uses.</a:t>
            </a:r>
            <a:endParaRPr lang="en-US" sz="16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How good are its forecasts?</a:t>
            </a:r>
            <a:endParaRPr lang="en-US" sz="3600" dirty="0"/>
          </a:p>
        </p:txBody>
      </p:sp>
      <p:sp>
        <p:nvSpPr>
          <p:cNvPr id="3" name="quality 1 card"/>
          <p:cNvSpPr/>
          <p:nvPr/>
        </p:nvSpPr>
        <p:spPr>
          <a:xfrm>
            <a:off x="548640" y="1463040"/>
            <a:ext cx="3454298" cy="2743200"/>
          </a:xfrm>
          <a:prstGeom prst="roundRect">
            <a:avLst>
              <a:gd name="adj" fmla="val 2667"/>
            </a:avLst>
          </a:prstGeom>
          <a:solidFill>
            <a:srgbClr val="EEF3F6"/>
          </a:solidFill>
          <a:ln/>
        </p:spPr>
      </p:sp>
      <p:sp>
        <p:nvSpPr>
          <p:cNvPr id="4" name="quality 1 number"/>
          <p:cNvSpPr txBox="1"/>
          <p:nvPr/>
        </p:nvSpPr>
        <p:spPr>
          <a:xfrm>
            <a:off x="822960" y="1737360"/>
            <a:ext cx="2905658" cy="914400"/>
          </a:xfrm>
          <a:prstGeom prst="rect">
            <a:avLst/>
          </a:prstGeom>
          <a:noFill/>
          <a:ln/>
        </p:spPr>
        <p:txBody>
          <a:bodyPr wrap="square" lIns="0" tIns="0" rIns="0" bIns="0" rtlCol="0" anchor="t"/>
          <a:lstStyle/>
          <a:p>
            <a:pPr indent="0" marL="0">
              <a:buNone/>
            </a:pPr>
            <a:r>
              <a:rPr lang="en-US" sz="4200" b="1" dirty="0">
                <a:solidFill>
                  <a:schemeClr val="accent1"/>
                </a:solidFill>
                <a:latin typeface="Cambria" pitchFamily="34" charset="0"/>
                <a:ea typeface="Cambria" pitchFamily="34" charset="-122"/>
                <a:cs typeface="Cambria" pitchFamily="34" charset="-120"/>
              </a:rPr>
              <a:t>88 in 100</a:t>
            </a:r>
            <a:endParaRPr lang="en-US" sz="4200" dirty="0"/>
          </a:p>
        </p:txBody>
      </p:sp>
      <p:sp>
        <p:nvSpPr>
          <p:cNvPr id="5" name="quality 1 text"/>
          <p:cNvSpPr txBox="1"/>
          <p:nvPr/>
        </p:nvSpPr>
        <p:spPr>
          <a:xfrm>
            <a:off x="822960" y="2743200"/>
            <a:ext cx="2905658" cy="17373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Shown one person who was promoted and one who wasn't, it ranks them the right way round 88 times out of 100.</a:t>
            </a:r>
            <a:endParaRPr lang="en-US" sz="1600" dirty="0"/>
          </a:p>
        </p:txBody>
      </p:sp>
      <p:sp>
        <p:nvSpPr>
          <p:cNvPr id="6" name="quality 2 card"/>
          <p:cNvSpPr/>
          <p:nvPr/>
        </p:nvSpPr>
        <p:spPr>
          <a:xfrm>
            <a:off x="4368698" y="1463040"/>
            <a:ext cx="3454298" cy="2743200"/>
          </a:xfrm>
          <a:prstGeom prst="roundRect">
            <a:avLst>
              <a:gd name="adj" fmla="val 2667"/>
            </a:avLst>
          </a:prstGeom>
          <a:solidFill>
            <a:srgbClr val="EEF3F6"/>
          </a:solidFill>
          <a:ln/>
        </p:spPr>
      </p:sp>
      <p:sp>
        <p:nvSpPr>
          <p:cNvPr id="7" name="quality 2 number"/>
          <p:cNvSpPr txBox="1"/>
          <p:nvPr/>
        </p:nvSpPr>
        <p:spPr>
          <a:xfrm>
            <a:off x="4643018" y="1737360"/>
            <a:ext cx="2905658" cy="914400"/>
          </a:xfrm>
          <a:prstGeom prst="rect">
            <a:avLst/>
          </a:prstGeom>
          <a:noFill/>
          <a:ln/>
        </p:spPr>
        <p:txBody>
          <a:bodyPr wrap="square" lIns="0" tIns="0" rIns="0" bIns="0" rtlCol="0" anchor="t"/>
          <a:lstStyle/>
          <a:p>
            <a:pPr indent="0" marL="0">
              <a:buNone/>
            </a:pPr>
            <a:r>
              <a:rPr lang="en-US" sz="4200" b="1" dirty="0">
                <a:solidFill>
                  <a:schemeClr val="accent1"/>
                </a:solidFill>
                <a:latin typeface="Cambria" pitchFamily="34" charset="0"/>
                <a:ea typeface="Cambria" pitchFamily="34" charset="-122"/>
                <a:cs typeface="Cambria" pitchFamily="34" charset="-120"/>
              </a:rPr>
              <a:t>6 in 10</a:t>
            </a:r>
            <a:endParaRPr lang="en-US" sz="4200" dirty="0"/>
          </a:p>
        </p:txBody>
      </p:sp>
      <p:sp>
        <p:nvSpPr>
          <p:cNvPr id="8" name="quality 2 text"/>
          <p:cNvSpPr txBox="1"/>
          <p:nvPr/>
        </p:nvSpPr>
        <p:spPr>
          <a:xfrm>
            <a:off x="4643018" y="2743200"/>
            <a:ext cx="2905658" cy="17373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Of the people who really were promoted, it spots about 6 in 10. The rest are why a person always decides.</a:t>
            </a:r>
            <a:endParaRPr lang="en-US" sz="1600" dirty="0"/>
          </a:p>
        </p:txBody>
      </p:sp>
      <p:sp>
        <p:nvSpPr>
          <p:cNvPr id="9" name="quality 3 card"/>
          <p:cNvSpPr/>
          <p:nvPr/>
        </p:nvSpPr>
        <p:spPr>
          <a:xfrm>
            <a:off x="8188757" y="1463040"/>
            <a:ext cx="3454298" cy="2743200"/>
          </a:xfrm>
          <a:prstGeom prst="roundRect">
            <a:avLst>
              <a:gd name="adj" fmla="val 2667"/>
            </a:avLst>
          </a:prstGeom>
          <a:solidFill>
            <a:srgbClr val="EEF3F6"/>
          </a:solidFill>
          <a:ln/>
        </p:spPr>
      </p:sp>
      <p:sp>
        <p:nvSpPr>
          <p:cNvPr id="10" name="quality 3 number"/>
          <p:cNvSpPr txBox="1"/>
          <p:nvPr/>
        </p:nvSpPr>
        <p:spPr>
          <a:xfrm>
            <a:off x="8463077" y="1737360"/>
            <a:ext cx="2905658" cy="914400"/>
          </a:xfrm>
          <a:prstGeom prst="rect">
            <a:avLst/>
          </a:prstGeom>
          <a:noFill/>
          <a:ln/>
        </p:spPr>
        <p:txBody>
          <a:bodyPr wrap="square" lIns="0" tIns="0" rIns="0" bIns="0" rtlCol="0" anchor="t"/>
          <a:lstStyle/>
          <a:p>
            <a:pPr indent="0" marL="0">
              <a:buNone/>
            </a:pPr>
            <a:r>
              <a:rPr lang="en-US" sz="4200" b="1" dirty="0">
                <a:solidFill>
                  <a:schemeClr val="accent1"/>
                </a:solidFill>
                <a:latin typeface="Cambria" pitchFamily="34" charset="0"/>
                <a:ea typeface="Cambria" pitchFamily="34" charset="-122"/>
                <a:cs typeface="Cambria" pitchFamily="34" charset="-120"/>
              </a:rPr>
              <a:t>30% = 30%</a:t>
            </a:r>
            <a:endParaRPr lang="en-US" sz="4200" dirty="0"/>
          </a:p>
        </p:txBody>
      </p:sp>
      <p:sp>
        <p:nvSpPr>
          <p:cNvPr id="11" name="quality 3 text"/>
          <p:cNvSpPr txBox="1"/>
          <p:nvPr/>
        </p:nvSpPr>
        <p:spPr>
          <a:xfrm>
            <a:off x="8463077" y="2743200"/>
            <a:ext cx="2905658" cy="17373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Its numbers are honest: of people scored around 30%, about 30 in 100 were promoted.</a:t>
            </a:r>
            <a:endParaRPr lang="en-US" sz="1600" dirty="0"/>
          </a:p>
        </p:txBody>
      </p:sp>
      <p:sp>
        <p:nvSpPr>
          <p:cNvPr id="12" name="forecast note circle"/>
          <p:cNvSpPr/>
          <p:nvPr/>
        </p:nvSpPr>
        <p:spPr>
          <a:xfrm>
            <a:off x="548640" y="4572000"/>
            <a:ext cx="640080" cy="640080"/>
          </a:xfrm>
          <a:prstGeom prst="ellipse">
            <a:avLst/>
          </a:prstGeom>
          <a:solidFill>
            <a:srgbClr val="FBE6DC"/>
          </a:solidFill>
          <a:ln/>
        </p:spPr>
      </p:sp>
      <p:pic>
        <p:nvPicPr>
          <p:cNvPr id="13" name="forecast note icon" descr="preencoded.png">    </p:cNvPr>
          <p:cNvPicPr>
            <a:picLocks noChangeAspect="1"/>
          </p:cNvPicPr>
          <p:nvPr/>
        </p:nvPicPr>
        <p:blipFill>
          <a:blip r:embed="rId1"/>
          <a:stretch>
            <a:fillRect/>
          </a:stretch>
        </p:blipFill>
        <p:spPr>
          <a:xfrm>
            <a:off x="702259" y="4725619"/>
            <a:ext cx="332842" cy="332842"/>
          </a:xfrm>
          <a:prstGeom prst="rect">
            <a:avLst/>
          </a:prstGeom>
        </p:spPr>
      </p:pic>
      <p:sp>
        <p:nvSpPr>
          <p:cNvPr id="14" name="forecast text"/>
          <p:cNvSpPr txBox="1"/>
          <p:nvPr/>
        </p:nvSpPr>
        <p:spPr>
          <a:xfrm>
            <a:off x="1417320" y="4617720"/>
            <a:ext cx="10225735" cy="73152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A forecast, not a verdict. </a:t>
            </a:r>
            <a:pPr indent="0" marL="0">
              <a:buNone/>
            </a:pPr>
            <a:r>
              <a:rPr lang="en-US" sz="1600" dirty="0">
                <a:solidFill>
                  <a:schemeClr val="tx1"/>
                </a:solidFill>
                <a:latin typeface="Calibri" pitchFamily="34" charset="0"/>
                <a:ea typeface="Calibri" pitchFamily="34" charset="-122"/>
                <a:cs typeface="Calibri" pitchFamily="34" charset="-120"/>
              </a:rPr>
              <a:t>Measured once on 20,000 records it had never seen. Like a weather forecast, it is useful but sometimes wrong, so it only ever advises.</a:t>
            </a:r>
            <a:endParaRPr lang="en-US" sz="16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Fair across groups</a:t>
            </a:r>
            <a:endParaRPr lang="en-US" sz="3600" dirty="0"/>
          </a:p>
        </p:txBody>
      </p:sp>
      <p:graphicFrame>
        <p:nvGraphicFramePr>
          <p:cNvPr id="3" name="fairness chart" descr=""/>
          <p:cNvGraphicFramePr/>
          <p:nvPr/>
        </p:nvGraphicFramePr>
        <p:xfrm>
          <a:off x="548640" y="141732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fairness explanation"/>
          <p:cNvSpPr txBox="1"/>
          <p:nvPr/>
        </p:nvSpPr>
        <p:spPr>
          <a:xfrm>
            <a:off x="7680960" y="1600200"/>
            <a:ext cx="3959352" cy="420624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The four-fifths rule</a:t>
            </a:r>
            <a:endParaRPr lang="en-US" sz="1600" dirty="0"/>
          </a:p>
          <a:p>
            <a:pPr indent="0" marL="0">
              <a:buNone/>
            </a:pPr>
            <a:r>
              <a:rPr lang="en-US" sz="1600" dirty="0">
                <a:solidFill>
                  <a:schemeClr val="tx1"/>
                </a:solidFill>
                <a:latin typeface="Calibri" pitchFamily="34" charset="0"/>
                <a:ea typeface="Calibri" pitchFamily="34" charset="-122"/>
                <a:cs typeface="Calibri" pitchFamily="34" charset="-120"/>
              </a:rPr>
              <a:t>A standard test used in hiring: every group should be recommended at least 80% as often as the most-recommended group. Every result here is above 0.8.</a:t>
            </a:r>
            <a:endParaRPr lang="en-US" sz="16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600" dirty="0"/>
          </a:p>
          <a:p>
            <a:pPr indent="0" marL="0">
              <a:buNone/>
            </a:pPr>
            <a:r>
              <a:rPr lang="en-US" sz="1900" b="1" dirty="0">
                <a:solidFill>
                  <a:schemeClr val="tx2"/>
                </a:solidFill>
                <a:latin typeface="Calibri" pitchFamily="34" charset="0"/>
                <a:ea typeface="Calibri" pitchFamily="34" charset="-122"/>
                <a:cs typeface="Calibri" pitchFamily="34" charset="-120"/>
              </a:rPr>
              <a:t>Automatic safety gate</a:t>
            </a:r>
            <a:endParaRPr lang="en-US" sz="1600" dirty="0"/>
          </a:p>
          <a:p>
            <a:pPr indent="0" marL="0">
              <a:buNone/>
            </a:pPr>
            <a:r>
              <a:rPr lang="en-US" sz="1600" dirty="0">
                <a:solidFill>
                  <a:schemeClr val="tx1"/>
                </a:solidFill>
                <a:latin typeface="Calibri" pitchFamily="34" charset="0"/>
                <a:ea typeface="Calibri" pitchFamily="34" charset="-122"/>
                <a:cs typeface="Calibri" pitchFamily="34" charset="-120"/>
              </a:rPr>
              <a:t>A model that fails this test is blocked and can never be switched on. HR also watches the same test on real decisions as they happen.</a:t>
            </a:r>
            <a:endParaRPr lang="en-US" sz="16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xplain badge circle"/>
          <p:cNvSpPr/>
          <p:nvPr/>
        </p:nvSpPr>
        <p:spPr>
          <a:xfrm>
            <a:off x="548640" y="2514600"/>
            <a:ext cx="1371600" cy="1371600"/>
          </a:xfrm>
          <a:prstGeom prst="ellipse">
            <a:avLst/>
          </a:prstGeom>
          <a:solidFill>
            <a:srgbClr val="15807A"/>
          </a:solidFill>
          <a:ln/>
        </p:spPr>
      </p:sp>
      <p:pic>
        <p:nvPicPr>
          <p:cNvPr id="3" name="explain badge icon" descr="preencoded.png">    </p:cNvPr>
          <p:cNvPicPr>
            <a:picLocks noChangeAspect="1"/>
          </p:cNvPicPr>
          <p:nvPr/>
        </p:nvPicPr>
        <p:blipFill>
          <a:blip r:embed="rId1"/>
          <a:stretch>
            <a:fillRect/>
          </a:stretch>
        </p:blipFill>
        <p:spPr>
          <a:xfrm>
            <a:off x="877824" y="2843784"/>
            <a:ext cx="713232" cy="713232"/>
          </a:xfrm>
          <a:prstGeom prst="rect">
            <a:avLst/>
          </a:prstGeom>
        </p:spPr>
      </p:pic>
      <p:sp>
        <p:nvSpPr>
          <p:cNvPr id="4" name="Text 0"/>
          <p:cNvSpPr/>
          <p:nvPr>
            <p:ph idx="100" type="title" hasCustomPrompt="1"/>
          </p:nvPr>
        </p:nvSpPr>
        <p:spPr>
          <a:xfrm>
            <a:off x="2286000" y="2514600"/>
            <a:ext cx="8961120" cy="100584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Step 2 · Explain</a:t>
            </a:r>
            <a:endParaRPr lang="en-US" sz="4400" dirty="0"/>
          </a:p>
        </p:txBody>
      </p:sp>
      <p:sp>
        <p:nvSpPr>
          <p:cNvPr id="5" name="Text 0"/>
          <p:cNvSpPr/>
          <p:nvPr>
            <p:ph idx="101" type="body" hasCustomPrompt="1"/>
          </p:nvPr>
        </p:nvSpPr>
        <p:spPr>
          <a:xfrm>
            <a:off x="2286000" y="3520440"/>
            <a:ext cx="8961120" cy="822960"/>
          </a:xfrm>
          <a:prstGeom prst="rect">
            <a:avLst/>
          </a:prstGeom>
          <a:noFill/>
          <a:ln/>
        </p:spPr>
        <p:txBody>
          <a:bodyPr wrap="square" lIns="0" tIns="0" rIns="0" bIns="0" rtlCol="0" anchor="t"/>
          <a:lstStyle/>
          <a:p>
            <a:pPr algn="l" indent="0" marL="0">
              <a:buNone/>
            </a:pPr>
            <a:r>
              <a:rPr lang="en-US" sz="2200" dirty="0">
                <a:solidFill>
                  <a:schemeClr val="bg1"/>
                </a:solidFill>
                <a:latin typeface="Calibri" pitchFamily="34" charset="0"/>
                <a:ea typeface="Calibri" pitchFamily="34" charset="-122"/>
                <a:cs typeface="Calibri" pitchFamily="34" charset="-120"/>
              </a:rPr>
              <a:t>Every score comes with its reasons</a:t>
            </a:r>
            <a:endParaRPr lang="en-US" sz="22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9D3E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Every score comes with reasons</a:t>
            </a:r>
            <a:endParaRPr lang="en-US" sz="3600" dirty="0"/>
          </a:p>
        </p:txBody>
      </p:sp>
      <p:sp>
        <p:nvSpPr>
          <p:cNvPr id="3" name="my growth screenshot frame"/>
          <p:cNvSpPr/>
          <p:nvPr/>
        </p:nvSpPr>
        <p:spPr>
          <a:xfrm>
            <a:off x="548640" y="1325880"/>
            <a:ext cx="4937760" cy="4773037"/>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4000"/>
              </a:srgbClr>
            </a:outerShdw>
          </a:effectLst>
        </p:spPr>
      </p:sp>
      <p:pic>
        <p:nvPicPr>
          <p:cNvPr id="4" name="my growth screenshot" descr="C:\Users\USER\AppData\Local\Temp\claude\C--Users-USER\0e8a0cf1-bc69-4633-9dd2-1566641d4538\scratchpad\deck/img/growth-top.png">    </p:cNvPr>
          <p:cNvPicPr>
            <a:picLocks noChangeAspect="1"/>
          </p:cNvPicPr>
          <p:nvPr/>
        </p:nvPicPr>
        <p:blipFill>
          <a:blip r:embed="rId1"/>
          <a:stretch>
            <a:fillRect/>
          </a:stretch>
        </p:blipFill>
        <p:spPr>
          <a:xfrm>
            <a:off x="594360" y="1371600"/>
            <a:ext cx="4846320" cy="4681597"/>
          </a:xfrm>
          <a:prstGeom prst="rect">
            <a:avLst/>
          </a:prstGeom>
        </p:spPr>
      </p:pic>
      <p:sp>
        <p:nvSpPr>
          <p:cNvPr id="5" name="reason 1 circle"/>
          <p:cNvSpPr/>
          <p:nvPr/>
        </p:nvSpPr>
        <p:spPr>
          <a:xfrm>
            <a:off x="6172200" y="1463040"/>
            <a:ext cx="640080" cy="640080"/>
          </a:xfrm>
          <a:prstGeom prst="ellipse">
            <a:avLst/>
          </a:prstGeom>
          <a:solidFill>
            <a:srgbClr val="0F2A44"/>
          </a:solidFill>
          <a:ln/>
        </p:spPr>
      </p:sp>
      <p:pic>
        <p:nvPicPr>
          <p:cNvPr id="6" name="reason 1 icon" descr="preencoded.png">    </p:cNvPr>
          <p:cNvPicPr>
            <a:picLocks noChangeAspect="1"/>
          </p:cNvPicPr>
          <p:nvPr/>
        </p:nvPicPr>
        <p:blipFill>
          <a:blip r:embed="rId2"/>
          <a:stretch>
            <a:fillRect/>
          </a:stretch>
        </p:blipFill>
        <p:spPr>
          <a:xfrm>
            <a:off x="6325819" y="1616659"/>
            <a:ext cx="332842" cy="332842"/>
          </a:xfrm>
          <a:prstGeom prst="rect">
            <a:avLst/>
          </a:prstGeom>
        </p:spPr>
      </p:pic>
      <p:sp>
        <p:nvSpPr>
          <p:cNvPr id="7" name="reason 1 heading"/>
          <p:cNvSpPr txBox="1"/>
          <p:nvPr/>
        </p:nvSpPr>
        <p:spPr>
          <a:xfrm>
            <a:off x="7040880" y="1444752"/>
            <a:ext cx="4572000" cy="41148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The readiness score</a:t>
            </a:r>
            <a:endParaRPr lang="en-US" sz="1900" dirty="0"/>
          </a:p>
        </p:txBody>
      </p:sp>
      <p:sp>
        <p:nvSpPr>
          <p:cNvPr id="8" name="reason 1 text"/>
          <p:cNvSpPr txBox="1"/>
          <p:nvPr/>
        </p:nvSpPr>
        <p:spPr>
          <a:xfrm>
            <a:off x="7040880" y="1874520"/>
            <a:ext cx="4572000" cy="9144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Shown against the line where the model would recommend promotion (23%).</a:t>
            </a:r>
            <a:endParaRPr lang="en-US" sz="1600" dirty="0"/>
          </a:p>
        </p:txBody>
      </p:sp>
      <p:sp>
        <p:nvSpPr>
          <p:cNvPr id="9" name="reason 2 circle"/>
          <p:cNvSpPr/>
          <p:nvPr/>
        </p:nvSpPr>
        <p:spPr>
          <a:xfrm>
            <a:off x="6172200" y="2971800"/>
            <a:ext cx="640080" cy="640080"/>
          </a:xfrm>
          <a:prstGeom prst="ellipse">
            <a:avLst/>
          </a:prstGeom>
          <a:solidFill>
            <a:srgbClr val="0F2A44"/>
          </a:solidFill>
          <a:ln/>
        </p:spPr>
      </p:sp>
      <p:pic>
        <p:nvPicPr>
          <p:cNvPr id="10" name="reason 2 icon" descr="preencoded.png">    </p:cNvPr>
          <p:cNvPicPr>
            <a:picLocks noChangeAspect="1"/>
          </p:cNvPicPr>
          <p:nvPr/>
        </p:nvPicPr>
        <p:blipFill>
          <a:blip r:embed="rId3"/>
          <a:stretch>
            <a:fillRect/>
          </a:stretch>
        </p:blipFill>
        <p:spPr>
          <a:xfrm>
            <a:off x="6325819" y="3125419"/>
            <a:ext cx="332842" cy="332842"/>
          </a:xfrm>
          <a:prstGeom prst="rect">
            <a:avLst/>
          </a:prstGeom>
        </p:spPr>
      </p:pic>
      <p:sp>
        <p:nvSpPr>
          <p:cNvPr id="11" name="reason 2 heading"/>
          <p:cNvSpPr txBox="1"/>
          <p:nvPr/>
        </p:nvSpPr>
        <p:spPr>
          <a:xfrm>
            <a:off x="7040880" y="2953512"/>
            <a:ext cx="4572000" cy="41148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In plain words</a:t>
            </a:r>
            <a:endParaRPr lang="en-US" sz="1900" dirty="0"/>
          </a:p>
        </p:txBody>
      </p:sp>
      <p:sp>
        <p:nvSpPr>
          <p:cNvPr id="12" name="reason 2 text"/>
          <p:cNvSpPr txBox="1"/>
          <p:nvPr/>
        </p:nvSpPr>
        <p:spPr>
          <a:xfrm>
            <a:off x="7040880" y="3383280"/>
            <a:ext cx="4572000" cy="9144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 short summary anyone can read, with real units: hours, points, percentages.</a:t>
            </a:r>
            <a:endParaRPr lang="en-US" sz="1600" dirty="0"/>
          </a:p>
        </p:txBody>
      </p:sp>
      <p:sp>
        <p:nvSpPr>
          <p:cNvPr id="13" name="reason 3 circle"/>
          <p:cNvSpPr/>
          <p:nvPr/>
        </p:nvSpPr>
        <p:spPr>
          <a:xfrm>
            <a:off x="6172200" y="4480560"/>
            <a:ext cx="640080" cy="640080"/>
          </a:xfrm>
          <a:prstGeom prst="ellipse">
            <a:avLst/>
          </a:prstGeom>
          <a:solidFill>
            <a:srgbClr val="15807A"/>
          </a:solidFill>
          <a:ln/>
        </p:spPr>
      </p:sp>
      <p:pic>
        <p:nvPicPr>
          <p:cNvPr id="14" name="reason 3 icon" descr="preencoded.png">    </p:cNvPr>
          <p:cNvPicPr>
            <a:picLocks noChangeAspect="1"/>
          </p:cNvPicPr>
          <p:nvPr/>
        </p:nvPicPr>
        <p:blipFill>
          <a:blip r:embed="rId4"/>
          <a:stretch>
            <a:fillRect/>
          </a:stretch>
        </p:blipFill>
        <p:spPr>
          <a:xfrm>
            <a:off x="6325819" y="4634179"/>
            <a:ext cx="332842" cy="332842"/>
          </a:xfrm>
          <a:prstGeom prst="rect">
            <a:avLst/>
          </a:prstGeom>
        </p:spPr>
      </p:pic>
      <p:sp>
        <p:nvSpPr>
          <p:cNvPr id="15" name="reason 3 heading"/>
          <p:cNvSpPr txBox="1"/>
          <p:nvPr/>
        </p:nvSpPr>
        <p:spPr>
          <a:xfrm>
            <a:off x="7040880" y="4462272"/>
            <a:ext cx="4572000" cy="41148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What raised and lowered it</a:t>
            </a:r>
            <a:endParaRPr lang="en-US" sz="1900" dirty="0"/>
          </a:p>
        </p:txBody>
      </p:sp>
      <p:sp>
        <p:nvSpPr>
          <p:cNvPr id="16" name="reason 3 text"/>
          <p:cNvSpPr txBox="1"/>
          <p:nvPr/>
        </p:nvSpPr>
        <p:spPr>
          <a:xfrm>
            <a:off x="7040880" y="4892040"/>
            <a:ext cx="4572000" cy="9144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Teal bars helped, orange bars held it back. The longer the bar, the bigger the effect.</a:t>
            </a:r>
            <a:endParaRPr lang="en-US" sz="16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A path forward, and room to explore</a:t>
            </a:r>
            <a:endParaRPr lang="en-US" sz="3600" dirty="0"/>
          </a:p>
        </p:txBody>
      </p:sp>
      <p:sp>
        <p:nvSpPr>
          <p:cNvPr id="3" name="path screenshot frame"/>
          <p:cNvSpPr/>
          <p:nvPr/>
        </p:nvSpPr>
        <p:spPr>
          <a:xfrm>
            <a:off x="548640" y="1371600"/>
            <a:ext cx="5349240" cy="358333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4000"/>
              </a:srgbClr>
            </a:outerShdw>
          </a:effectLst>
        </p:spPr>
      </p:sp>
      <p:pic>
        <p:nvPicPr>
          <p:cNvPr id="4" name="path screenshot" descr="C:\Users\USER\AppData\Local\Temp\claude\C--Users-USER\0e8a0cf1-bc69-4633-9dd2-1566641d4538\scratchpad\deck/img/growth-path.png">    </p:cNvPr>
          <p:cNvPicPr>
            <a:picLocks noChangeAspect="1"/>
          </p:cNvPicPr>
          <p:nvPr/>
        </p:nvPicPr>
        <p:blipFill>
          <a:blip r:embed="rId1"/>
          <a:stretch>
            <a:fillRect/>
          </a:stretch>
        </p:blipFill>
        <p:spPr>
          <a:xfrm>
            <a:off x="594360" y="1417320"/>
            <a:ext cx="5257800" cy="3491898"/>
          </a:xfrm>
          <a:prstGeom prst="rect">
            <a:avLst/>
          </a:prstGeom>
        </p:spPr>
      </p:pic>
      <p:sp>
        <p:nvSpPr>
          <p:cNvPr id="5" name="what-if screenshot frame"/>
          <p:cNvSpPr/>
          <p:nvPr/>
        </p:nvSpPr>
        <p:spPr>
          <a:xfrm>
            <a:off x="6217920" y="1371600"/>
            <a:ext cx="5440680" cy="2933541"/>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4000"/>
              </a:srgbClr>
            </a:outerShdw>
          </a:effectLst>
        </p:spPr>
      </p:sp>
      <p:pic>
        <p:nvPicPr>
          <p:cNvPr id="6" name="what-if screenshot" descr="C:\Users\USER\AppData\Local\Temp\claude\C--Users-USER\0e8a0cf1-bc69-4633-9dd2-1566641d4538\scratchpad\deck/img/growth-whatif.png">    </p:cNvPr>
          <p:cNvPicPr>
            <a:picLocks noChangeAspect="1"/>
          </p:cNvPicPr>
          <p:nvPr/>
        </p:nvPicPr>
        <p:blipFill>
          <a:blip r:embed="rId2"/>
          <a:stretch>
            <a:fillRect/>
          </a:stretch>
        </p:blipFill>
        <p:spPr>
          <a:xfrm>
            <a:off x="6263640" y="1417320"/>
            <a:ext cx="5349240" cy="2842101"/>
          </a:xfrm>
          <a:prstGeom prst="rect">
            <a:avLst/>
          </a:prstGeom>
        </p:spPr>
      </p:pic>
      <p:sp>
        <p:nvSpPr>
          <p:cNvPr id="7" name="path caption"/>
          <p:cNvSpPr txBox="1"/>
          <p:nvPr/>
        </p:nvSpPr>
        <p:spPr>
          <a:xfrm>
            <a:off x="548640" y="5166360"/>
            <a:ext cx="5349240" cy="10058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Path to promotion. </a:t>
            </a:r>
            <a:pPr indent="0" marL="0">
              <a:buNone/>
            </a:pPr>
            <a:r>
              <a:rPr lang="en-US" sz="1500" dirty="0">
                <a:solidFill>
                  <a:schemeClr val="tx1"/>
                </a:solidFill>
                <a:latin typeface="Calibri" pitchFamily="34" charset="0"/>
                <a:ea typeface="Calibri" pitchFamily="34" charset="-122"/>
                <a:cs typeface="Calibri" pitchFamily="34" charset="-120"/>
              </a:rPr>
              <a:t>The smallest realistic steps that would reach the line, each one checked on the model. They work for 98 of 108 demo staff not yet recommended.</a:t>
            </a:r>
            <a:endParaRPr lang="en-US" sz="1500" dirty="0"/>
          </a:p>
        </p:txBody>
      </p:sp>
      <p:sp>
        <p:nvSpPr>
          <p:cNvPr id="8" name="what-if caption"/>
          <p:cNvSpPr txBox="1"/>
          <p:nvPr/>
        </p:nvSpPr>
        <p:spPr>
          <a:xfrm>
            <a:off x="6263640" y="4572000"/>
            <a:ext cx="5349240" cy="10058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What if? </a:t>
            </a:r>
            <a:pPr indent="0" marL="0">
              <a:buNone/>
            </a:pPr>
            <a:r>
              <a:rPr lang="en-US" sz="1500" dirty="0">
                <a:solidFill>
                  <a:schemeClr val="tx1"/>
                </a:solidFill>
                <a:latin typeface="Calibri" pitchFamily="34" charset="0"/>
                <a:ea typeface="Calibri" pitchFamily="34" charset="-122"/>
                <a:cs typeface="Calibri" pitchFamily="34" charset="-120"/>
              </a:rPr>
              <a:t>Move a slider to see how the score would change. Only things a person can work on are offered, and nothing is saved.</a:t>
            </a:r>
            <a:endParaRPr lang="en-US" sz="15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respond badge circle"/>
          <p:cNvSpPr/>
          <p:nvPr/>
        </p:nvSpPr>
        <p:spPr>
          <a:xfrm>
            <a:off x="548640" y="2514600"/>
            <a:ext cx="1371600" cy="1371600"/>
          </a:xfrm>
          <a:prstGeom prst="ellipse">
            <a:avLst/>
          </a:prstGeom>
          <a:solidFill>
            <a:srgbClr val="15807A"/>
          </a:solidFill>
          <a:ln/>
        </p:spPr>
      </p:sp>
      <p:pic>
        <p:nvPicPr>
          <p:cNvPr id="3" name="respond badge icon" descr="preencoded.png">    </p:cNvPr>
          <p:cNvPicPr>
            <a:picLocks noChangeAspect="1"/>
          </p:cNvPicPr>
          <p:nvPr/>
        </p:nvPicPr>
        <p:blipFill>
          <a:blip r:embed="rId1"/>
          <a:stretch>
            <a:fillRect/>
          </a:stretch>
        </p:blipFill>
        <p:spPr>
          <a:xfrm>
            <a:off x="877824" y="2843784"/>
            <a:ext cx="713232" cy="713232"/>
          </a:xfrm>
          <a:prstGeom prst="rect">
            <a:avLst/>
          </a:prstGeom>
        </p:spPr>
      </p:pic>
      <p:sp>
        <p:nvSpPr>
          <p:cNvPr id="4" name="Text 0"/>
          <p:cNvSpPr/>
          <p:nvPr>
            <p:ph idx="100" type="title" hasCustomPrompt="1"/>
          </p:nvPr>
        </p:nvSpPr>
        <p:spPr>
          <a:xfrm>
            <a:off x="2286000" y="2514600"/>
            <a:ext cx="8961120" cy="100584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Step 3 · Respond</a:t>
            </a:r>
            <a:endParaRPr lang="en-US" sz="4400" dirty="0"/>
          </a:p>
        </p:txBody>
      </p:sp>
      <p:sp>
        <p:nvSpPr>
          <p:cNvPr id="5" name="Text 0"/>
          <p:cNvSpPr/>
          <p:nvPr>
            <p:ph idx="101" type="body" hasCustomPrompt="1"/>
          </p:nvPr>
        </p:nvSpPr>
        <p:spPr>
          <a:xfrm>
            <a:off x="2286000" y="3520440"/>
            <a:ext cx="8961120" cy="822960"/>
          </a:xfrm>
          <a:prstGeom prst="rect">
            <a:avLst/>
          </a:prstGeom>
          <a:noFill/>
          <a:ln/>
        </p:spPr>
        <p:txBody>
          <a:bodyPr wrap="square" lIns="0" tIns="0" rIns="0" bIns="0" rtlCol="0" anchor="t"/>
          <a:lstStyle/>
          <a:p>
            <a:pPr algn="l" indent="0" marL="0">
              <a:buNone/>
            </a:pPr>
            <a:r>
              <a:rPr lang="en-US" sz="2200" dirty="0">
                <a:solidFill>
                  <a:schemeClr val="bg1"/>
                </a:solidFill>
                <a:latin typeface="Calibri" pitchFamily="34" charset="0"/>
                <a:ea typeface="Calibri" pitchFamily="34" charset="-122"/>
                <a:cs typeface="Calibri" pitchFamily="34" charset="-120"/>
              </a:rPr>
              <a:t>A voice for every employee</a:t>
            </a:r>
            <a:endParaRPr lang="en-US" sz="22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9D3E6"/>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Employees can answer back</a:t>
            </a:r>
            <a:endParaRPr lang="en-US" sz="3600" dirty="0"/>
          </a:p>
        </p:txBody>
      </p:sp>
      <p:sp>
        <p:nvSpPr>
          <p:cNvPr id="3" name="respond screenshot frame"/>
          <p:cNvSpPr/>
          <p:nvPr/>
        </p:nvSpPr>
        <p:spPr>
          <a:xfrm>
            <a:off x="548640" y="1371600"/>
            <a:ext cx="5942947" cy="320040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4000"/>
              </a:srgbClr>
            </a:outerShdw>
          </a:effectLst>
        </p:spPr>
      </p:sp>
      <p:pic>
        <p:nvPicPr>
          <p:cNvPr id="4" name="respond screenshot" descr="C:\Users\USER\AppData\Local\Temp\claude\C--Users-USER\0e8a0cf1-bc69-4633-9dd2-1566641d4538\scratchpad\deck/img/growth-respond.png">    </p:cNvPr>
          <p:cNvPicPr>
            <a:picLocks noChangeAspect="1"/>
          </p:cNvPicPr>
          <p:nvPr/>
        </p:nvPicPr>
        <p:blipFill>
          <a:blip r:embed="rId1"/>
          <a:stretch>
            <a:fillRect/>
          </a:stretch>
        </p:blipFill>
        <p:spPr>
          <a:xfrm>
            <a:off x="594360" y="1417320"/>
            <a:ext cx="5851507" cy="3108960"/>
          </a:xfrm>
          <a:prstGeom prst="rect">
            <a:avLst/>
          </a:prstGeom>
        </p:spPr>
      </p:pic>
      <p:sp>
        <p:nvSpPr>
          <p:cNvPr id="5" name="respond caption"/>
          <p:cNvSpPr txBox="1"/>
          <p:nvPr/>
        </p:nvSpPr>
        <p:spPr>
          <a:xfrm>
            <a:off x="548640" y="4846320"/>
            <a:ext cx="5943600" cy="822960"/>
          </a:xfrm>
          <a:prstGeom prst="rect">
            <a:avLst/>
          </a:prstGeom>
          <a:noFill/>
          <a:ln/>
        </p:spPr>
        <p:txBody>
          <a:bodyPr wrap="square" lIns="0" tIns="0" rIns="0" bIns="0" rtlCol="0" anchor="t"/>
          <a:lstStyle/>
          <a:p>
            <a:pPr indent="0" marL="0">
              <a:buNone/>
            </a:pPr>
            <a:r>
              <a:rPr lang="en-US" sz="1600" dirty="0">
                <a:solidFill>
                  <a:srgbClr val="5B6B7C"/>
                </a:solidFill>
                <a:latin typeface="Calibri" pitchFamily="34" charset="0"/>
                <a:ea typeface="Calibri" pitchFamily="34" charset="-122"/>
                <a:cs typeface="Calibri" pitchFamily="34" charset="-120"/>
              </a:rPr>
              <a:t>Right under their explanation, every employee finds two buttons.</a:t>
            </a:r>
            <a:endParaRPr lang="en-US" sz="1600" dirty="0"/>
          </a:p>
        </p:txBody>
      </p:sp>
      <p:sp>
        <p:nvSpPr>
          <p:cNvPr id="6" name="rate card"/>
          <p:cNvSpPr/>
          <p:nvPr/>
        </p:nvSpPr>
        <p:spPr>
          <a:xfrm>
            <a:off x="6858000" y="1417320"/>
            <a:ext cx="4785055" cy="2240280"/>
          </a:xfrm>
          <a:prstGeom prst="roundRect">
            <a:avLst>
              <a:gd name="adj" fmla="val 3265"/>
            </a:avLst>
          </a:prstGeom>
          <a:solidFill>
            <a:srgbClr val="EEF3F6"/>
          </a:solidFill>
          <a:ln/>
        </p:spPr>
      </p:sp>
      <p:sp>
        <p:nvSpPr>
          <p:cNvPr id="7" name="rate circle"/>
          <p:cNvSpPr/>
          <p:nvPr/>
        </p:nvSpPr>
        <p:spPr>
          <a:xfrm>
            <a:off x="7132320" y="1691640"/>
            <a:ext cx="566928" cy="566928"/>
          </a:xfrm>
          <a:prstGeom prst="ellipse">
            <a:avLst/>
          </a:prstGeom>
          <a:solidFill>
            <a:srgbClr val="0F2A44"/>
          </a:solidFill>
          <a:ln/>
        </p:spPr>
      </p:sp>
      <p:pic>
        <p:nvPicPr>
          <p:cNvPr id="8" name="rate icon" descr="preencoded.png">    </p:cNvPr>
          <p:cNvPicPr>
            <a:picLocks noChangeAspect="1"/>
          </p:cNvPicPr>
          <p:nvPr/>
        </p:nvPicPr>
        <p:blipFill>
          <a:blip r:embed="rId2"/>
          <a:stretch>
            <a:fillRect/>
          </a:stretch>
        </p:blipFill>
        <p:spPr>
          <a:xfrm>
            <a:off x="7268383" y="1827703"/>
            <a:ext cx="294803" cy="294803"/>
          </a:xfrm>
          <a:prstGeom prst="rect">
            <a:avLst/>
          </a:prstGeom>
        </p:spPr>
      </p:pic>
      <p:sp>
        <p:nvSpPr>
          <p:cNvPr id="9" name="rate heading"/>
          <p:cNvSpPr txBox="1"/>
          <p:nvPr/>
        </p:nvSpPr>
        <p:spPr>
          <a:xfrm>
            <a:off x="7132320" y="2423160"/>
            <a:ext cx="4236415"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Rate this explanation</a:t>
            </a:r>
            <a:endParaRPr lang="en-US" sz="1800" dirty="0"/>
          </a:p>
        </p:txBody>
      </p:sp>
      <p:sp>
        <p:nvSpPr>
          <p:cNvPr id="10" name="rate text"/>
          <p:cNvSpPr txBox="1"/>
          <p:nvPr/>
        </p:nvSpPr>
        <p:spPr>
          <a:xfrm>
            <a:off x="7132320" y="2862072"/>
            <a:ext cx="4236415" cy="5943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Was it clear? Was it useful? Mark any factor that seems wrong or unfair. HR sees only totals; managers never see them.</a:t>
            </a:r>
            <a:endParaRPr lang="en-US" sz="1500" dirty="0"/>
          </a:p>
        </p:txBody>
      </p:sp>
      <p:sp>
        <p:nvSpPr>
          <p:cNvPr id="11" name="correct card"/>
          <p:cNvSpPr/>
          <p:nvPr/>
        </p:nvSpPr>
        <p:spPr>
          <a:xfrm>
            <a:off x="6858000" y="3840480"/>
            <a:ext cx="4785055" cy="2240280"/>
          </a:xfrm>
          <a:prstGeom prst="roundRect">
            <a:avLst>
              <a:gd name="adj" fmla="val 3265"/>
            </a:avLst>
          </a:prstGeom>
          <a:solidFill>
            <a:srgbClr val="DDF0EE"/>
          </a:solidFill>
          <a:ln/>
        </p:spPr>
      </p:sp>
      <p:sp>
        <p:nvSpPr>
          <p:cNvPr id="12" name="correct circle"/>
          <p:cNvSpPr/>
          <p:nvPr/>
        </p:nvSpPr>
        <p:spPr>
          <a:xfrm>
            <a:off x="7132320" y="4114800"/>
            <a:ext cx="566928" cy="566928"/>
          </a:xfrm>
          <a:prstGeom prst="ellipse">
            <a:avLst/>
          </a:prstGeom>
          <a:solidFill>
            <a:srgbClr val="15807A"/>
          </a:solidFill>
          <a:ln/>
        </p:spPr>
      </p:sp>
      <p:pic>
        <p:nvPicPr>
          <p:cNvPr id="13" name="correct icon" descr="preencoded.png">    </p:cNvPr>
          <p:cNvPicPr>
            <a:picLocks noChangeAspect="1"/>
          </p:cNvPicPr>
          <p:nvPr/>
        </p:nvPicPr>
        <p:blipFill>
          <a:blip r:embed="rId3"/>
          <a:stretch>
            <a:fillRect/>
          </a:stretch>
        </p:blipFill>
        <p:spPr>
          <a:xfrm>
            <a:off x="7268383" y="4250863"/>
            <a:ext cx="294803" cy="294803"/>
          </a:xfrm>
          <a:prstGeom prst="rect">
            <a:avLst/>
          </a:prstGeom>
        </p:spPr>
      </p:pic>
      <p:sp>
        <p:nvSpPr>
          <p:cNvPr id="14" name="correct heading"/>
          <p:cNvSpPr txBox="1"/>
          <p:nvPr/>
        </p:nvSpPr>
        <p:spPr>
          <a:xfrm>
            <a:off x="7132320" y="4846320"/>
            <a:ext cx="4236415"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Correct my record</a:t>
            </a:r>
            <a:endParaRPr lang="en-US" sz="1800" dirty="0"/>
          </a:p>
        </p:txBody>
      </p:sp>
      <p:sp>
        <p:nvSpPr>
          <p:cNvPr id="15" name="correct text"/>
          <p:cNvSpPr txBox="1"/>
          <p:nvPr/>
        </p:nvSpPr>
        <p:spPr>
          <a:xfrm>
            <a:off x="7132320" y="5285232"/>
            <a:ext cx="4236415" cy="5943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Point out a wrong value, with evidence. HR checks it. If it's confirmed, the record is fixed and the score is worked out again.</a:t>
            </a:r>
            <a:endParaRPr lang="en-US" sz="15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Feedback never moves a score</a:t>
            </a:r>
            <a:endParaRPr lang="en-US" sz="3600" dirty="0"/>
          </a:p>
        </p:txBody>
      </p:sp>
      <p:sp>
        <p:nvSpPr>
          <p:cNvPr id="3" name="complaint card"/>
          <p:cNvSpPr/>
          <p:nvPr/>
        </p:nvSpPr>
        <p:spPr>
          <a:xfrm>
            <a:off x="548640" y="1417320"/>
            <a:ext cx="5318608" cy="2103120"/>
          </a:xfrm>
          <a:prstGeom prst="roundRect">
            <a:avLst>
              <a:gd name="adj" fmla="val 3478"/>
            </a:avLst>
          </a:prstGeom>
          <a:solidFill>
            <a:srgbClr val="FBE6DC"/>
          </a:solidFill>
          <a:ln/>
        </p:spPr>
      </p:sp>
      <p:sp>
        <p:nvSpPr>
          <p:cNvPr id="4" name="complaint circle"/>
          <p:cNvSpPr/>
          <p:nvPr/>
        </p:nvSpPr>
        <p:spPr>
          <a:xfrm>
            <a:off x="822960" y="1691640"/>
            <a:ext cx="566928" cy="566928"/>
          </a:xfrm>
          <a:prstGeom prst="ellipse">
            <a:avLst/>
          </a:prstGeom>
          <a:solidFill>
            <a:srgbClr val="C2410C"/>
          </a:solidFill>
          <a:ln/>
        </p:spPr>
      </p:sp>
      <p:pic>
        <p:nvPicPr>
          <p:cNvPr id="5" name="complaint icon" descr="preencoded.png">    </p:cNvPr>
          <p:cNvPicPr>
            <a:picLocks noChangeAspect="1"/>
          </p:cNvPicPr>
          <p:nvPr/>
        </p:nvPicPr>
        <p:blipFill>
          <a:blip r:embed="rId1"/>
          <a:stretch>
            <a:fillRect/>
          </a:stretch>
        </p:blipFill>
        <p:spPr>
          <a:xfrm>
            <a:off x="959023" y="1827703"/>
            <a:ext cx="294803" cy="294803"/>
          </a:xfrm>
          <a:prstGeom prst="rect">
            <a:avLst/>
          </a:prstGeom>
        </p:spPr>
      </p:pic>
      <p:sp>
        <p:nvSpPr>
          <p:cNvPr id="6" name="complaint heading"/>
          <p:cNvSpPr txBox="1"/>
          <p:nvPr/>
        </p:nvSpPr>
        <p:spPr>
          <a:xfrm>
            <a:off x="1554480" y="1764792"/>
            <a:ext cx="4038448" cy="45720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A complaint or a rating</a:t>
            </a:r>
            <a:endParaRPr lang="en-US" sz="2000" dirty="0"/>
          </a:p>
        </p:txBody>
      </p:sp>
      <p:sp>
        <p:nvSpPr>
          <p:cNvPr id="7" name="complaint text"/>
          <p:cNvSpPr txBox="1"/>
          <p:nvPr/>
        </p:nvSpPr>
        <p:spPr>
          <a:xfrm>
            <a:off x="822960" y="2514600"/>
            <a:ext cx="4769968" cy="11430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Never reaches the model. Shouting louder can't raise a score, and an angry rating can't lower one.</a:t>
            </a:r>
            <a:endParaRPr lang="en-US" sz="1600" dirty="0"/>
          </a:p>
        </p:txBody>
      </p:sp>
      <p:sp>
        <p:nvSpPr>
          <p:cNvPr id="8" name="fact card"/>
          <p:cNvSpPr/>
          <p:nvPr/>
        </p:nvSpPr>
        <p:spPr>
          <a:xfrm>
            <a:off x="6324448" y="1417320"/>
            <a:ext cx="5318608" cy="2103120"/>
          </a:xfrm>
          <a:prstGeom prst="roundRect">
            <a:avLst>
              <a:gd name="adj" fmla="val 3478"/>
            </a:avLst>
          </a:prstGeom>
          <a:solidFill>
            <a:srgbClr val="DDF0EE"/>
          </a:solidFill>
          <a:ln/>
        </p:spPr>
      </p:sp>
      <p:sp>
        <p:nvSpPr>
          <p:cNvPr id="9" name="fact circle"/>
          <p:cNvSpPr/>
          <p:nvPr/>
        </p:nvSpPr>
        <p:spPr>
          <a:xfrm>
            <a:off x="6598768" y="1691640"/>
            <a:ext cx="566928" cy="566928"/>
          </a:xfrm>
          <a:prstGeom prst="ellipse">
            <a:avLst/>
          </a:prstGeom>
          <a:solidFill>
            <a:srgbClr val="15807A"/>
          </a:solidFill>
          <a:ln/>
        </p:spPr>
      </p:sp>
      <p:pic>
        <p:nvPicPr>
          <p:cNvPr id="10" name="fact icon" descr="preencoded.png">    </p:cNvPr>
          <p:cNvPicPr>
            <a:picLocks noChangeAspect="1"/>
          </p:cNvPicPr>
          <p:nvPr/>
        </p:nvPicPr>
        <p:blipFill>
          <a:blip r:embed="rId2"/>
          <a:stretch>
            <a:fillRect/>
          </a:stretch>
        </p:blipFill>
        <p:spPr>
          <a:xfrm>
            <a:off x="6734830" y="1827703"/>
            <a:ext cx="294803" cy="294803"/>
          </a:xfrm>
          <a:prstGeom prst="rect">
            <a:avLst/>
          </a:prstGeom>
        </p:spPr>
      </p:pic>
      <p:sp>
        <p:nvSpPr>
          <p:cNvPr id="11" name="fact heading"/>
          <p:cNvSpPr txBox="1"/>
          <p:nvPr/>
        </p:nvSpPr>
        <p:spPr>
          <a:xfrm>
            <a:off x="7330288" y="1764792"/>
            <a:ext cx="4038448" cy="45720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A fact HR has checked</a:t>
            </a:r>
            <a:endParaRPr lang="en-US" sz="2000" dirty="0"/>
          </a:p>
        </p:txBody>
      </p:sp>
      <p:sp>
        <p:nvSpPr>
          <p:cNvPr id="12" name="fact text"/>
          <p:cNvSpPr txBox="1"/>
          <p:nvPr/>
        </p:nvSpPr>
        <p:spPr>
          <a:xfrm>
            <a:off x="6598768" y="2514600"/>
            <a:ext cx="4769968" cy="11430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The only thing that changes a record. The person is re-scored and the change is logged for good.</a:t>
            </a:r>
            <a:endParaRPr lang="en-US" sz="1600" dirty="0"/>
          </a:p>
        </p:txBody>
      </p:sp>
      <p:sp>
        <p:nvSpPr>
          <p:cNvPr id="13" name="proof list"/>
          <p:cNvSpPr txBox="1"/>
          <p:nvPr/>
        </p:nvSpPr>
        <p:spPr>
          <a:xfrm>
            <a:off x="548640" y="3886200"/>
            <a:ext cx="11094415" cy="219456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Proven, not just promised</a:t>
            </a:r>
            <a:endParaRPr lang="en-US" sz="1700" dirty="0"/>
          </a:p>
          <a:p>
            <a:pPr marL="228600" indent="-2286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An automatic test records every score, adds ratings, complaints and corrections, then checks every score is identical, down to the last digit.</a:t>
            </a:r>
            <a:endParaRPr lang="en-US" sz="1700" dirty="0"/>
          </a:p>
          <a:p>
            <a:pPr marL="228600" indent="-2286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Two more checks make sure the scoring code can't even read the feedback.</a:t>
            </a:r>
            <a:endParaRPr lang="en-US" sz="1700" dirty="0"/>
          </a:p>
          <a:p>
            <a:pPr marL="228600" indent="-228600">
              <a:buSzPct val="100000"/>
              <a:buChar char="•"/>
            </a:pPr>
            <a:r>
              <a:rPr lang="en-US" sz="1700" dirty="0">
                <a:solidFill>
                  <a:schemeClr val="tx1"/>
                </a:solidFill>
                <a:latin typeface="Calibri" pitchFamily="34" charset="0"/>
                <a:ea typeface="Calibri" pitchFamily="34" charset="-122"/>
                <a:cs typeface="Calibri" pitchFamily="34" charset="-120"/>
              </a:rPr>
              <a:t>While a correction is pending, HR's review says so, and the decision can be put on hold until it's settled.</a:t>
            </a:r>
            <a:endParaRPr lang="en-US" sz="17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People make every decision</a:t>
            </a:r>
            <a:endParaRPr lang="en-US" sz="3600" dirty="0"/>
          </a:p>
        </p:txBody>
      </p:sp>
      <p:sp>
        <p:nvSpPr>
          <p:cNvPr id="3" name="flow 1 circle"/>
          <p:cNvSpPr/>
          <p:nvPr/>
        </p:nvSpPr>
        <p:spPr>
          <a:xfrm>
            <a:off x="1005840" y="1600200"/>
            <a:ext cx="1005840" cy="1005840"/>
          </a:xfrm>
          <a:prstGeom prst="ellipse">
            <a:avLst/>
          </a:prstGeom>
          <a:solidFill>
            <a:srgbClr val="EEF3F6"/>
          </a:solidFill>
          <a:ln/>
        </p:spPr>
      </p:sp>
      <p:pic>
        <p:nvPicPr>
          <p:cNvPr id="4" name="flow 1 icon" descr="preencoded.png">    </p:cNvPr>
          <p:cNvPicPr>
            <a:picLocks noChangeAspect="1"/>
          </p:cNvPicPr>
          <p:nvPr/>
        </p:nvPicPr>
        <p:blipFill>
          <a:blip r:embed="rId1"/>
          <a:stretch>
            <a:fillRect/>
          </a:stretch>
        </p:blipFill>
        <p:spPr>
          <a:xfrm>
            <a:off x="1247242" y="1841602"/>
            <a:ext cx="523037" cy="523037"/>
          </a:xfrm>
          <a:prstGeom prst="rect">
            <a:avLst/>
          </a:prstGeom>
        </p:spPr>
      </p:pic>
      <p:sp>
        <p:nvSpPr>
          <p:cNvPr id="5" name="flow 1 heading"/>
          <p:cNvSpPr txBox="1"/>
          <p:nvPr/>
        </p:nvSpPr>
        <p:spPr>
          <a:xfrm>
            <a:off x="548640" y="2788920"/>
            <a:ext cx="1920240" cy="731520"/>
          </a:xfrm>
          <a:prstGeom prst="rect">
            <a:avLst/>
          </a:prstGeom>
          <a:noFill/>
          <a:ln/>
        </p:spPr>
        <p:txBody>
          <a:bodyPr wrap="square" lIns="0" tIns="0" rIns="0" bIns="0" rtlCol="0" anchor="t"/>
          <a:lstStyle/>
          <a:p>
            <a:pPr algn="ctr" indent="0" marL="0">
              <a:buNone/>
            </a:pPr>
            <a:r>
              <a:rPr lang="en-US" sz="1800" b="1" dirty="0">
                <a:solidFill>
                  <a:schemeClr val="tx2"/>
                </a:solidFill>
                <a:latin typeface="Calibri" pitchFamily="34" charset="0"/>
                <a:ea typeface="Calibri" pitchFamily="34" charset="-122"/>
                <a:cs typeface="Calibri" pitchFamily="34" charset="-120"/>
              </a:rPr>
              <a:t>Model advises</a:t>
            </a:r>
            <a:endParaRPr lang="en-US" sz="1800" dirty="0"/>
          </a:p>
        </p:txBody>
      </p:sp>
      <p:sp>
        <p:nvSpPr>
          <p:cNvPr id="6" name="flow 1 text"/>
          <p:cNvSpPr txBox="1"/>
          <p:nvPr/>
        </p:nvSpPr>
        <p:spPr>
          <a:xfrm>
            <a:off x="548640" y="3566160"/>
            <a:ext cx="1920240" cy="118872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A score and its reasons</a:t>
            </a:r>
            <a:endParaRPr lang="en-US" sz="1400" dirty="0"/>
          </a:p>
        </p:txBody>
      </p:sp>
      <p:pic>
        <p:nvPicPr>
          <p:cNvPr id="7" name="flow arrow 1" descr="preencoded.png">    </p:cNvPr>
          <p:cNvPicPr>
            <a:picLocks noChangeAspect="1"/>
          </p:cNvPicPr>
          <p:nvPr/>
        </p:nvPicPr>
        <p:blipFill>
          <a:blip r:embed="rId2"/>
          <a:stretch>
            <a:fillRect/>
          </a:stretch>
        </p:blipFill>
        <p:spPr>
          <a:xfrm>
            <a:off x="2426932" y="1874520"/>
            <a:ext cx="457200" cy="457200"/>
          </a:xfrm>
          <a:prstGeom prst="rect">
            <a:avLst/>
          </a:prstGeom>
        </p:spPr>
      </p:pic>
      <p:sp>
        <p:nvSpPr>
          <p:cNvPr id="8" name="flow 2 circle"/>
          <p:cNvSpPr/>
          <p:nvPr/>
        </p:nvSpPr>
        <p:spPr>
          <a:xfrm>
            <a:off x="3299384" y="1600200"/>
            <a:ext cx="1005840" cy="1005840"/>
          </a:xfrm>
          <a:prstGeom prst="ellipse">
            <a:avLst/>
          </a:prstGeom>
          <a:solidFill>
            <a:srgbClr val="0F2A44"/>
          </a:solidFill>
          <a:ln/>
        </p:spPr>
      </p:sp>
      <p:pic>
        <p:nvPicPr>
          <p:cNvPr id="9" name="flow 2 icon" descr="preencoded.png">    </p:cNvPr>
          <p:cNvPicPr>
            <a:picLocks noChangeAspect="1"/>
          </p:cNvPicPr>
          <p:nvPr/>
        </p:nvPicPr>
        <p:blipFill>
          <a:blip r:embed="rId3"/>
          <a:stretch>
            <a:fillRect/>
          </a:stretch>
        </p:blipFill>
        <p:spPr>
          <a:xfrm>
            <a:off x="3540785" y="1841602"/>
            <a:ext cx="523037" cy="523037"/>
          </a:xfrm>
          <a:prstGeom prst="rect">
            <a:avLst/>
          </a:prstGeom>
        </p:spPr>
      </p:pic>
      <p:sp>
        <p:nvSpPr>
          <p:cNvPr id="10" name="flow 2 heading"/>
          <p:cNvSpPr txBox="1"/>
          <p:nvPr/>
        </p:nvSpPr>
        <p:spPr>
          <a:xfrm>
            <a:off x="2842184" y="2788920"/>
            <a:ext cx="1920240" cy="731520"/>
          </a:xfrm>
          <a:prstGeom prst="rect">
            <a:avLst/>
          </a:prstGeom>
          <a:noFill/>
          <a:ln/>
        </p:spPr>
        <p:txBody>
          <a:bodyPr wrap="square" lIns="0" tIns="0" rIns="0" bIns="0" rtlCol="0" anchor="t"/>
          <a:lstStyle/>
          <a:p>
            <a:pPr algn="ctr" indent="0" marL="0">
              <a:buNone/>
            </a:pPr>
            <a:r>
              <a:rPr lang="en-US" sz="1800" b="1" dirty="0">
                <a:solidFill>
                  <a:schemeClr val="tx2"/>
                </a:solidFill>
                <a:latin typeface="Calibri" pitchFamily="34" charset="0"/>
                <a:ea typeface="Calibri" pitchFamily="34" charset="-122"/>
                <a:cs typeface="Calibri" pitchFamily="34" charset="-120"/>
              </a:rPr>
              <a:t>Manager recommends</a:t>
            </a:r>
            <a:endParaRPr lang="en-US" sz="1800" dirty="0"/>
          </a:p>
        </p:txBody>
      </p:sp>
      <p:sp>
        <p:nvSpPr>
          <p:cNvPr id="11" name="flow 2 text"/>
          <p:cNvSpPr txBox="1"/>
          <p:nvPr/>
        </p:nvSpPr>
        <p:spPr>
          <a:xfrm>
            <a:off x="2842184" y="3566160"/>
            <a:ext cx="1920240" cy="118872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Rates 4 areas with real examples; explains in writing if they disagree with the model</a:t>
            </a:r>
            <a:endParaRPr lang="en-US" sz="1400" dirty="0"/>
          </a:p>
        </p:txBody>
      </p:sp>
      <p:pic>
        <p:nvPicPr>
          <p:cNvPr id="12" name="flow arrow 2" descr="preencoded.png">    </p:cNvPr>
          <p:cNvPicPr>
            <a:picLocks noChangeAspect="1"/>
          </p:cNvPicPr>
          <p:nvPr/>
        </p:nvPicPr>
        <p:blipFill>
          <a:blip r:embed="rId4"/>
          <a:stretch>
            <a:fillRect/>
          </a:stretch>
        </p:blipFill>
        <p:spPr>
          <a:xfrm>
            <a:off x="4720476" y="1874520"/>
            <a:ext cx="457200" cy="457200"/>
          </a:xfrm>
          <a:prstGeom prst="rect">
            <a:avLst/>
          </a:prstGeom>
        </p:spPr>
      </p:pic>
      <p:sp>
        <p:nvSpPr>
          <p:cNvPr id="13" name="flow 3 circle"/>
          <p:cNvSpPr/>
          <p:nvPr/>
        </p:nvSpPr>
        <p:spPr>
          <a:xfrm>
            <a:off x="5592928" y="1600200"/>
            <a:ext cx="1005840" cy="1005840"/>
          </a:xfrm>
          <a:prstGeom prst="ellipse">
            <a:avLst/>
          </a:prstGeom>
          <a:solidFill>
            <a:srgbClr val="0F2A44"/>
          </a:solidFill>
          <a:ln/>
        </p:spPr>
      </p:sp>
      <p:pic>
        <p:nvPicPr>
          <p:cNvPr id="14" name="flow 3 icon" descr="preencoded.png">    </p:cNvPr>
          <p:cNvPicPr>
            <a:picLocks noChangeAspect="1"/>
          </p:cNvPicPr>
          <p:nvPr/>
        </p:nvPicPr>
        <p:blipFill>
          <a:blip r:embed="rId5"/>
          <a:stretch>
            <a:fillRect/>
          </a:stretch>
        </p:blipFill>
        <p:spPr>
          <a:xfrm>
            <a:off x="5834329" y="1841602"/>
            <a:ext cx="523037" cy="523037"/>
          </a:xfrm>
          <a:prstGeom prst="rect">
            <a:avLst/>
          </a:prstGeom>
        </p:spPr>
      </p:pic>
      <p:sp>
        <p:nvSpPr>
          <p:cNvPr id="15" name="flow 3 heading"/>
          <p:cNvSpPr txBox="1"/>
          <p:nvPr/>
        </p:nvSpPr>
        <p:spPr>
          <a:xfrm>
            <a:off x="5135728" y="2788920"/>
            <a:ext cx="1920240" cy="731520"/>
          </a:xfrm>
          <a:prstGeom prst="rect">
            <a:avLst/>
          </a:prstGeom>
          <a:noFill/>
          <a:ln/>
        </p:spPr>
        <p:txBody>
          <a:bodyPr wrap="square" lIns="0" tIns="0" rIns="0" bIns="0" rtlCol="0" anchor="t"/>
          <a:lstStyle/>
          <a:p>
            <a:pPr algn="ctr" indent="0" marL="0">
              <a:buNone/>
            </a:pPr>
            <a:r>
              <a:rPr lang="en-US" sz="1800" b="1" dirty="0">
                <a:solidFill>
                  <a:schemeClr val="tx2"/>
                </a:solidFill>
                <a:latin typeface="Calibri" pitchFamily="34" charset="0"/>
                <a:ea typeface="Calibri" pitchFamily="34" charset="-122"/>
                <a:cs typeface="Calibri" pitchFamily="34" charset="-120"/>
              </a:rPr>
              <a:t>HR decides</a:t>
            </a:r>
            <a:endParaRPr lang="en-US" sz="1800" dirty="0"/>
          </a:p>
        </p:txBody>
      </p:sp>
      <p:sp>
        <p:nvSpPr>
          <p:cNvPr id="16" name="flow 3 text"/>
          <p:cNvSpPr txBox="1"/>
          <p:nvPr/>
        </p:nvSpPr>
        <p:spPr>
          <a:xfrm>
            <a:off x="5135728" y="3566160"/>
            <a:ext cx="1920240" cy="118872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Approves or rejects; the model's view is saved next to the decision</a:t>
            </a:r>
            <a:endParaRPr lang="en-US" sz="1400" dirty="0"/>
          </a:p>
        </p:txBody>
      </p:sp>
      <p:pic>
        <p:nvPicPr>
          <p:cNvPr id="17" name="flow arrow 3" descr="preencoded.png">    </p:cNvPr>
          <p:cNvPicPr>
            <a:picLocks noChangeAspect="1"/>
          </p:cNvPicPr>
          <p:nvPr/>
        </p:nvPicPr>
        <p:blipFill>
          <a:blip r:embed="rId6"/>
          <a:stretch>
            <a:fillRect/>
          </a:stretch>
        </p:blipFill>
        <p:spPr>
          <a:xfrm>
            <a:off x="7014020" y="1874520"/>
            <a:ext cx="457200" cy="457200"/>
          </a:xfrm>
          <a:prstGeom prst="rect">
            <a:avLst/>
          </a:prstGeom>
        </p:spPr>
      </p:pic>
      <p:sp>
        <p:nvSpPr>
          <p:cNvPr id="18" name="flow 4 circle"/>
          <p:cNvSpPr/>
          <p:nvPr/>
        </p:nvSpPr>
        <p:spPr>
          <a:xfrm>
            <a:off x="7886471" y="1600200"/>
            <a:ext cx="1005840" cy="1005840"/>
          </a:xfrm>
          <a:prstGeom prst="ellipse">
            <a:avLst/>
          </a:prstGeom>
          <a:solidFill>
            <a:srgbClr val="0F2A44"/>
          </a:solidFill>
          <a:ln/>
        </p:spPr>
      </p:sp>
      <p:pic>
        <p:nvPicPr>
          <p:cNvPr id="19" name="flow 4 icon" descr="preencoded.png">    </p:cNvPr>
          <p:cNvPicPr>
            <a:picLocks noChangeAspect="1"/>
          </p:cNvPicPr>
          <p:nvPr/>
        </p:nvPicPr>
        <p:blipFill>
          <a:blip r:embed="rId7"/>
          <a:stretch>
            <a:fillRect/>
          </a:stretch>
        </p:blipFill>
        <p:spPr>
          <a:xfrm>
            <a:off x="8127873" y="1841602"/>
            <a:ext cx="523037" cy="523037"/>
          </a:xfrm>
          <a:prstGeom prst="rect">
            <a:avLst/>
          </a:prstGeom>
        </p:spPr>
      </p:pic>
      <p:sp>
        <p:nvSpPr>
          <p:cNvPr id="20" name="flow 4 heading"/>
          <p:cNvSpPr txBox="1"/>
          <p:nvPr/>
        </p:nvSpPr>
        <p:spPr>
          <a:xfrm>
            <a:off x="7429271" y="2788920"/>
            <a:ext cx="1920240" cy="731520"/>
          </a:xfrm>
          <a:prstGeom prst="rect">
            <a:avLst/>
          </a:prstGeom>
          <a:noFill/>
          <a:ln/>
        </p:spPr>
        <p:txBody>
          <a:bodyPr wrap="square" lIns="0" tIns="0" rIns="0" bIns="0" rtlCol="0" anchor="t"/>
          <a:lstStyle/>
          <a:p>
            <a:pPr algn="ctr" indent="0" marL="0">
              <a:buNone/>
            </a:pPr>
            <a:r>
              <a:rPr lang="en-US" sz="1800" b="1" dirty="0">
                <a:solidFill>
                  <a:schemeClr val="tx2"/>
                </a:solidFill>
                <a:latin typeface="Calibri" pitchFamily="34" charset="0"/>
                <a:ea typeface="Calibri" pitchFamily="34" charset="-122"/>
                <a:cs typeface="Calibri" pitchFamily="34" charset="-120"/>
              </a:rPr>
              <a:t>Finance signs off</a:t>
            </a:r>
            <a:endParaRPr lang="en-US" sz="1800" dirty="0"/>
          </a:p>
        </p:txBody>
      </p:sp>
      <p:sp>
        <p:nvSpPr>
          <p:cNvPr id="21" name="flow 4 text"/>
          <p:cNvSpPr txBox="1"/>
          <p:nvPr/>
        </p:nvSpPr>
        <p:spPr>
          <a:xfrm>
            <a:off x="7429271" y="3566160"/>
            <a:ext cx="1920240" cy="118872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Confirms the pay rise, or sends it back with a reason</a:t>
            </a:r>
            <a:endParaRPr lang="en-US" sz="1400" dirty="0"/>
          </a:p>
        </p:txBody>
      </p:sp>
      <p:pic>
        <p:nvPicPr>
          <p:cNvPr id="22" name="flow arrow 4" descr="preencoded.png">    </p:cNvPr>
          <p:cNvPicPr>
            <a:picLocks noChangeAspect="1"/>
          </p:cNvPicPr>
          <p:nvPr/>
        </p:nvPicPr>
        <p:blipFill>
          <a:blip r:embed="rId8"/>
          <a:stretch>
            <a:fillRect/>
          </a:stretch>
        </p:blipFill>
        <p:spPr>
          <a:xfrm>
            <a:off x="9307563" y="1874520"/>
            <a:ext cx="457200" cy="457200"/>
          </a:xfrm>
          <a:prstGeom prst="rect">
            <a:avLst/>
          </a:prstGeom>
        </p:spPr>
      </p:pic>
      <p:sp>
        <p:nvSpPr>
          <p:cNvPr id="23" name="flow 5 circle"/>
          <p:cNvSpPr/>
          <p:nvPr/>
        </p:nvSpPr>
        <p:spPr>
          <a:xfrm>
            <a:off x="10180015" y="1600200"/>
            <a:ext cx="1005840" cy="1005840"/>
          </a:xfrm>
          <a:prstGeom prst="ellipse">
            <a:avLst/>
          </a:prstGeom>
          <a:solidFill>
            <a:srgbClr val="15807A"/>
          </a:solidFill>
          <a:ln/>
        </p:spPr>
      </p:sp>
      <p:pic>
        <p:nvPicPr>
          <p:cNvPr id="24" name="flow 5 icon" descr="preencoded.png">    </p:cNvPr>
          <p:cNvPicPr>
            <a:picLocks noChangeAspect="1"/>
          </p:cNvPicPr>
          <p:nvPr/>
        </p:nvPicPr>
        <p:blipFill>
          <a:blip r:embed="rId9"/>
          <a:stretch>
            <a:fillRect/>
          </a:stretch>
        </p:blipFill>
        <p:spPr>
          <a:xfrm>
            <a:off x="10421417" y="1841602"/>
            <a:ext cx="523037" cy="523037"/>
          </a:xfrm>
          <a:prstGeom prst="rect">
            <a:avLst/>
          </a:prstGeom>
        </p:spPr>
      </p:pic>
      <p:sp>
        <p:nvSpPr>
          <p:cNvPr id="25" name="flow 5 heading"/>
          <p:cNvSpPr txBox="1"/>
          <p:nvPr/>
        </p:nvSpPr>
        <p:spPr>
          <a:xfrm>
            <a:off x="9722815" y="2788920"/>
            <a:ext cx="1920240" cy="731520"/>
          </a:xfrm>
          <a:prstGeom prst="rect">
            <a:avLst/>
          </a:prstGeom>
          <a:noFill/>
          <a:ln/>
        </p:spPr>
        <p:txBody>
          <a:bodyPr wrap="square" lIns="0" tIns="0" rIns="0" bIns="0" rtlCol="0" anchor="t"/>
          <a:lstStyle/>
          <a:p>
            <a:pPr algn="ctr" indent="0" marL="0">
              <a:buNone/>
            </a:pPr>
            <a:r>
              <a:rPr lang="en-US" sz="1800" b="1" dirty="0">
                <a:solidFill>
                  <a:schemeClr val="tx2"/>
                </a:solidFill>
                <a:latin typeface="Calibri" pitchFamily="34" charset="0"/>
                <a:ea typeface="Calibri" pitchFamily="34" charset="-122"/>
                <a:cs typeface="Calibri" pitchFamily="34" charset="-120"/>
              </a:rPr>
              <a:t>Employee told</a:t>
            </a:r>
            <a:endParaRPr lang="en-US" sz="1800" dirty="0"/>
          </a:p>
        </p:txBody>
      </p:sp>
      <p:sp>
        <p:nvSpPr>
          <p:cNvPr id="26" name="flow 5 text"/>
          <p:cNvSpPr txBox="1"/>
          <p:nvPr/>
        </p:nvSpPr>
        <p:spPr>
          <a:xfrm>
            <a:off x="9722815" y="3566160"/>
            <a:ext cx="1920240" cy="118872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Only once everything is final</a:t>
            </a:r>
            <a:endParaRPr lang="en-US" sz="1400" dirty="0"/>
          </a:p>
        </p:txBody>
      </p:sp>
      <p:sp>
        <p:nvSpPr>
          <p:cNvPr id="27" name="pay note card"/>
          <p:cNvSpPr/>
          <p:nvPr/>
        </p:nvSpPr>
        <p:spPr>
          <a:xfrm>
            <a:off x="548640" y="4892040"/>
            <a:ext cx="11094415" cy="1097280"/>
          </a:xfrm>
          <a:prstGeom prst="roundRect">
            <a:avLst>
              <a:gd name="adj" fmla="val 6667"/>
            </a:avLst>
          </a:prstGeom>
          <a:solidFill>
            <a:srgbClr val="EEF3F6"/>
          </a:solidFill>
          <a:ln/>
        </p:spPr>
      </p:sp>
      <p:sp>
        <p:nvSpPr>
          <p:cNvPr id="28" name="pay note"/>
          <p:cNvSpPr txBox="1"/>
          <p:nvPr/>
        </p:nvSpPr>
        <p:spPr>
          <a:xfrm>
            <a:off x="822960" y="5074920"/>
            <a:ext cx="10545775" cy="8229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Pay rises stay within limits. </a:t>
            </a:r>
            <a:pPr indent="0" marL="0">
              <a:buNone/>
            </a:pPr>
            <a:r>
              <a:rPr lang="en-US" sz="1600" dirty="0">
                <a:solidFill>
                  <a:schemeClr val="tx1"/>
                </a:solidFill>
                <a:latin typeface="Calibri" pitchFamily="34" charset="0"/>
                <a:ea typeface="Calibri" pitchFamily="34" charset="-122"/>
                <a:cs typeface="Calibri" pitchFamily="34" charset="-120"/>
              </a:rPr>
              <a:t>HR sets a range (5 to 15% by default); going outside it needs a written reason. Salaries are never stored, only percentages, and Finance never sees scores or ratings.</a:t>
            </a:r>
            <a:endParaRPr lang="en-US" sz="16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Built to be trusted</a:t>
            </a:r>
            <a:endParaRPr lang="en-US" sz="3600" dirty="0"/>
          </a:p>
        </p:txBody>
      </p:sp>
      <p:sp>
        <p:nvSpPr>
          <p:cNvPr id="3" name="trust 1 card"/>
          <p:cNvSpPr/>
          <p:nvPr/>
        </p:nvSpPr>
        <p:spPr>
          <a:xfrm>
            <a:off x="548640" y="1371600"/>
            <a:ext cx="3484778" cy="2240280"/>
          </a:xfrm>
          <a:prstGeom prst="roundRect">
            <a:avLst>
              <a:gd name="adj" fmla="val 3265"/>
            </a:avLst>
          </a:prstGeom>
          <a:solidFill>
            <a:srgbClr val="EEF3F6"/>
          </a:solidFill>
          <a:ln/>
        </p:spPr>
      </p:sp>
      <p:sp>
        <p:nvSpPr>
          <p:cNvPr id="4" name="trust 1 circle"/>
          <p:cNvSpPr/>
          <p:nvPr/>
        </p:nvSpPr>
        <p:spPr>
          <a:xfrm>
            <a:off x="777240" y="1600200"/>
            <a:ext cx="502920" cy="502920"/>
          </a:xfrm>
          <a:prstGeom prst="ellipse">
            <a:avLst/>
          </a:prstGeom>
          <a:solidFill>
            <a:srgbClr val="0F2A44"/>
          </a:solidFill>
          <a:ln/>
        </p:spPr>
      </p:sp>
      <p:pic>
        <p:nvPicPr>
          <p:cNvPr id="5" name="trust 1 icon" descr="preencoded.png">    </p:cNvPr>
          <p:cNvPicPr>
            <a:picLocks noChangeAspect="1"/>
          </p:cNvPicPr>
          <p:nvPr/>
        </p:nvPicPr>
        <p:blipFill>
          <a:blip r:embed="rId1"/>
          <a:stretch>
            <a:fillRect/>
          </a:stretch>
        </p:blipFill>
        <p:spPr>
          <a:xfrm>
            <a:off x="897941" y="1720901"/>
            <a:ext cx="261518" cy="261518"/>
          </a:xfrm>
          <a:prstGeom prst="rect">
            <a:avLst/>
          </a:prstGeom>
        </p:spPr>
      </p:pic>
      <p:sp>
        <p:nvSpPr>
          <p:cNvPr id="6" name="trust 1 heading"/>
          <p:cNvSpPr txBox="1"/>
          <p:nvPr/>
        </p:nvSpPr>
        <p:spPr>
          <a:xfrm>
            <a:off x="1417320" y="1572768"/>
            <a:ext cx="2433218" cy="5943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A record that can't be secretly changed</a:t>
            </a:r>
            <a:endParaRPr lang="en-US" sz="1500" dirty="0"/>
          </a:p>
        </p:txBody>
      </p:sp>
      <p:sp>
        <p:nvSpPr>
          <p:cNvPr id="7" name="trust 1 text"/>
          <p:cNvSpPr txBox="1"/>
          <p:nvPr/>
        </p:nvSpPr>
        <p:spPr>
          <a:xfrm>
            <a:off x="777240" y="2286000"/>
            <a:ext cx="3027578"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Every decision goes into a log where each entry is sealed to the one before. One click proves nothing was edited or deleted.</a:t>
            </a:r>
            <a:endParaRPr lang="en-US" sz="1400" dirty="0"/>
          </a:p>
        </p:txBody>
      </p:sp>
      <p:sp>
        <p:nvSpPr>
          <p:cNvPr id="8" name="trust 2 card"/>
          <p:cNvSpPr/>
          <p:nvPr/>
        </p:nvSpPr>
        <p:spPr>
          <a:xfrm>
            <a:off x="4353458" y="1371600"/>
            <a:ext cx="3484778" cy="2240280"/>
          </a:xfrm>
          <a:prstGeom prst="roundRect">
            <a:avLst>
              <a:gd name="adj" fmla="val 3265"/>
            </a:avLst>
          </a:prstGeom>
          <a:solidFill>
            <a:srgbClr val="EEF3F6"/>
          </a:solidFill>
          <a:ln/>
        </p:spPr>
      </p:sp>
      <p:sp>
        <p:nvSpPr>
          <p:cNvPr id="9" name="trust 2 circle"/>
          <p:cNvSpPr/>
          <p:nvPr/>
        </p:nvSpPr>
        <p:spPr>
          <a:xfrm>
            <a:off x="4582058" y="1600200"/>
            <a:ext cx="502920" cy="502920"/>
          </a:xfrm>
          <a:prstGeom prst="ellipse">
            <a:avLst/>
          </a:prstGeom>
          <a:solidFill>
            <a:srgbClr val="0F2A44"/>
          </a:solidFill>
          <a:ln/>
        </p:spPr>
      </p:sp>
      <p:pic>
        <p:nvPicPr>
          <p:cNvPr id="10" name="trust 2 icon" descr="preencoded.png">    </p:cNvPr>
          <p:cNvPicPr>
            <a:picLocks noChangeAspect="1"/>
          </p:cNvPicPr>
          <p:nvPr/>
        </p:nvPicPr>
        <p:blipFill>
          <a:blip r:embed="rId2"/>
          <a:stretch>
            <a:fillRect/>
          </a:stretch>
        </p:blipFill>
        <p:spPr>
          <a:xfrm>
            <a:off x="4702759" y="1720901"/>
            <a:ext cx="261518" cy="261518"/>
          </a:xfrm>
          <a:prstGeom prst="rect">
            <a:avLst/>
          </a:prstGeom>
        </p:spPr>
      </p:pic>
      <p:sp>
        <p:nvSpPr>
          <p:cNvPr id="11" name="trust 2 heading"/>
          <p:cNvSpPr txBox="1"/>
          <p:nvPr/>
        </p:nvSpPr>
        <p:spPr>
          <a:xfrm>
            <a:off x="5222138" y="1572768"/>
            <a:ext cx="2433218" cy="5943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A named person switches each model on</a:t>
            </a:r>
            <a:endParaRPr lang="en-US" sz="1500" dirty="0"/>
          </a:p>
        </p:txBody>
      </p:sp>
      <p:sp>
        <p:nvSpPr>
          <p:cNvPr id="12" name="trust 2 text"/>
          <p:cNvSpPr txBox="1"/>
          <p:nvPr/>
        </p:nvSpPr>
        <p:spPr>
          <a:xfrm>
            <a:off x="4582058" y="2286000"/>
            <a:ext cx="3027578"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HR reads the model's report card first. A model that failed the fairness test can't be switched on at all.</a:t>
            </a:r>
            <a:endParaRPr lang="en-US" sz="1400" dirty="0"/>
          </a:p>
        </p:txBody>
      </p:sp>
      <p:sp>
        <p:nvSpPr>
          <p:cNvPr id="13" name="trust 3 card"/>
          <p:cNvSpPr/>
          <p:nvPr/>
        </p:nvSpPr>
        <p:spPr>
          <a:xfrm>
            <a:off x="8158277" y="1371600"/>
            <a:ext cx="3484778" cy="2240280"/>
          </a:xfrm>
          <a:prstGeom prst="roundRect">
            <a:avLst>
              <a:gd name="adj" fmla="val 3265"/>
            </a:avLst>
          </a:prstGeom>
          <a:solidFill>
            <a:srgbClr val="EEF3F6"/>
          </a:solidFill>
          <a:ln/>
        </p:spPr>
      </p:sp>
      <p:sp>
        <p:nvSpPr>
          <p:cNvPr id="14" name="trust 3 circle"/>
          <p:cNvSpPr/>
          <p:nvPr/>
        </p:nvSpPr>
        <p:spPr>
          <a:xfrm>
            <a:off x="8386877" y="1600200"/>
            <a:ext cx="502920" cy="502920"/>
          </a:xfrm>
          <a:prstGeom prst="ellipse">
            <a:avLst/>
          </a:prstGeom>
          <a:solidFill>
            <a:srgbClr val="0F2A44"/>
          </a:solidFill>
          <a:ln/>
        </p:spPr>
      </p:sp>
      <p:pic>
        <p:nvPicPr>
          <p:cNvPr id="15" name="trust 3 icon" descr="preencoded.png">    </p:cNvPr>
          <p:cNvPicPr>
            <a:picLocks noChangeAspect="1"/>
          </p:cNvPicPr>
          <p:nvPr/>
        </p:nvPicPr>
        <p:blipFill>
          <a:blip r:embed="rId3"/>
          <a:stretch>
            <a:fillRect/>
          </a:stretch>
        </p:blipFill>
        <p:spPr>
          <a:xfrm>
            <a:off x="8507578" y="1720901"/>
            <a:ext cx="261518" cy="261518"/>
          </a:xfrm>
          <a:prstGeom prst="rect">
            <a:avLst/>
          </a:prstGeom>
        </p:spPr>
      </p:pic>
      <p:sp>
        <p:nvSpPr>
          <p:cNvPr id="16" name="trust 3 heading"/>
          <p:cNvSpPr txBox="1"/>
          <p:nvPr/>
        </p:nvSpPr>
        <p:spPr>
          <a:xfrm>
            <a:off x="9026957" y="1572768"/>
            <a:ext cx="2433218" cy="5943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Fairness watched as it happens</a:t>
            </a:r>
            <a:endParaRPr lang="en-US" sz="1500" dirty="0"/>
          </a:p>
        </p:txBody>
      </p:sp>
      <p:sp>
        <p:nvSpPr>
          <p:cNvPr id="17" name="trust 3 text"/>
          <p:cNvSpPr txBox="1"/>
          <p:nvPr/>
        </p:nvSpPr>
        <p:spPr>
          <a:xfrm>
            <a:off x="8386877" y="2286000"/>
            <a:ext cx="3027578"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same fairness test runs on real decisions: the model, the managers, and HR.</a:t>
            </a:r>
            <a:endParaRPr lang="en-US" sz="1400" dirty="0"/>
          </a:p>
        </p:txBody>
      </p:sp>
      <p:sp>
        <p:nvSpPr>
          <p:cNvPr id="18" name="trust 4 card"/>
          <p:cNvSpPr/>
          <p:nvPr/>
        </p:nvSpPr>
        <p:spPr>
          <a:xfrm>
            <a:off x="548640" y="3886200"/>
            <a:ext cx="3484778" cy="2240280"/>
          </a:xfrm>
          <a:prstGeom prst="roundRect">
            <a:avLst>
              <a:gd name="adj" fmla="val 3265"/>
            </a:avLst>
          </a:prstGeom>
          <a:solidFill>
            <a:srgbClr val="EEF3F6"/>
          </a:solidFill>
          <a:ln/>
        </p:spPr>
      </p:sp>
      <p:sp>
        <p:nvSpPr>
          <p:cNvPr id="19" name="trust 4 circle"/>
          <p:cNvSpPr/>
          <p:nvPr/>
        </p:nvSpPr>
        <p:spPr>
          <a:xfrm>
            <a:off x="777240" y="4114800"/>
            <a:ext cx="502920" cy="502920"/>
          </a:xfrm>
          <a:prstGeom prst="ellipse">
            <a:avLst/>
          </a:prstGeom>
          <a:solidFill>
            <a:srgbClr val="0F2A44"/>
          </a:solidFill>
          <a:ln/>
        </p:spPr>
      </p:sp>
      <p:pic>
        <p:nvPicPr>
          <p:cNvPr id="20" name="trust 4 icon" descr="preencoded.png">    </p:cNvPr>
          <p:cNvPicPr>
            <a:picLocks noChangeAspect="1"/>
          </p:cNvPicPr>
          <p:nvPr/>
        </p:nvPicPr>
        <p:blipFill>
          <a:blip r:embed="rId4"/>
          <a:stretch>
            <a:fillRect/>
          </a:stretch>
        </p:blipFill>
        <p:spPr>
          <a:xfrm>
            <a:off x="897941" y="4235501"/>
            <a:ext cx="261518" cy="261518"/>
          </a:xfrm>
          <a:prstGeom prst="rect">
            <a:avLst/>
          </a:prstGeom>
        </p:spPr>
      </p:pic>
      <p:sp>
        <p:nvSpPr>
          <p:cNvPr id="21" name="trust 4 heading"/>
          <p:cNvSpPr txBox="1"/>
          <p:nvPr/>
        </p:nvSpPr>
        <p:spPr>
          <a:xfrm>
            <a:off x="1417320" y="4087368"/>
            <a:ext cx="2433218" cy="5943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Your data, your rights</a:t>
            </a:r>
            <a:endParaRPr lang="en-US" sz="1500" dirty="0"/>
          </a:p>
        </p:txBody>
      </p:sp>
      <p:sp>
        <p:nvSpPr>
          <p:cNvPr id="22" name="trust 4 text"/>
          <p:cNvSpPr txBox="1"/>
          <p:nvPr/>
        </p:nvSpPr>
        <p:spPr>
          <a:xfrm>
            <a:off x="777240" y="4800600"/>
            <a:ext cx="3027578"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Anyone can download what's held about them; leavers' personal data is erased; old data is removed on schedule.</a:t>
            </a:r>
            <a:endParaRPr lang="en-US" sz="1400" dirty="0"/>
          </a:p>
        </p:txBody>
      </p:sp>
      <p:sp>
        <p:nvSpPr>
          <p:cNvPr id="23" name="trust 5 card"/>
          <p:cNvSpPr/>
          <p:nvPr/>
        </p:nvSpPr>
        <p:spPr>
          <a:xfrm>
            <a:off x="4353458" y="3886200"/>
            <a:ext cx="3484778" cy="2240280"/>
          </a:xfrm>
          <a:prstGeom prst="roundRect">
            <a:avLst>
              <a:gd name="adj" fmla="val 3265"/>
            </a:avLst>
          </a:prstGeom>
          <a:solidFill>
            <a:srgbClr val="EEF3F6"/>
          </a:solidFill>
          <a:ln/>
        </p:spPr>
      </p:sp>
      <p:sp>
        <p:nvSpPr>
          <p:cNvPr id="24" name="trust 5 circle"/>
          <p:cNvSpPr/>
          <p:nvPr/>
        </p:nvSpPr>
        <p:spPr>
          <a:xfrm>
            <a:off x="4582058" y="4114800"/>
            <a:ext cx="502920" cy="502920"/>
          </a:xfrm>
          <a:prstGeom prst="ellipse">
            <a:avLst/>
          </a:prstGeom>
          <a:solidFill>
            <a:srgbClr val="0F2A44"/>
          </a:solidFill>
          <a:ln/>
        </p:spPr>
      </p:sp>
      <p:pic>
        <p:nvPicPr>
          <p:cNvPr id="25" name="trust 5 icon" descr="preencoded.png">    </p:cNvPr>
          <p:cNvPicPr>
            <a:picLocks noChangeAspect="1"/>
          </p:cNvPicPr>
          <p:nvPr/>
        </p:nvPicPr>
        <p:blipFill>
          <a:blip r:embed="rId5"/>
          <a:stretch>
            <a:fillRect/>
          </a:stretch>
        </p:blipFill>
        <p:spPr>
          <a:xfrm>
            <a:off x="4702759" y="4235501"/>
            <a:ext cx="261518" cy="261518"/>
          </a:xfrm>
          <a:prstGeom prst="rect">
            <a:avLst/>
          </a:prstGeom>
        </p:spPr>
      </p:pic>
      <p:sp>
        <p:nvSpPr>
          <p:cNvPr id="26" name="trust 5 heading"/>
          <p:cNvSpPr txBox="1"/>
          <p:nvPr/>
        </p:nvSpPr>
        <p:spPr>
          <a:xfrm>
            <a:off x="5222138" y="4087368"/>
            <a:ext cx="2433218" cy="5943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Safe sign-in</a:t>
            </a:r>
            <a:endParaRPr lang="en-US" sz="1500" dirty="0"/>
          </a:p>
        </p:txBody>
      </p:sp>
      <p:sp>
        <p:nvSpPr>
          <p:cNvPr id="27" name="trust 5 text"/>
          <p:cNvSpPr txBox="1"/>
          <p:nvPr/>
        </p:nvSpPr>
        <p:spPr>
          <a:xfrm>
            <a:off x="4582058" y="4800600"/>
            <a:ext cx="3027578"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Two-step sign-in, lock-out after 5 wrong passwords, automatic sign-out when idle.</a:t>
            </a:r>
            <a:endParaRPr lang="en-US" sz="1400" dirty="0"/>
          </a:p>
        </p:txBody>
      </p:sp>
      <p:sp>
        <p:nvSpPr>
          <p:cNvPr id="28" name="trust 6 card"/>
          <p:cNvSpPr/>
          <p:nvPr/>
        </p:nvSpPr>
        <p:spPr>
          <a:xfrm>
            <a:off x="8158277" y="3886200"/>
            <a:ext cx="3484778" cy="2240280"/>
          </a:xfrm>
          <a:prstGeom prst="roundRect">
            <a:avLst>
              <a:gd name="adj" fmla="val 3265"/>
            </a:avLst>
          </a:prstGeom>
          <a:solidFill>
            <a:srgbClr val="EEF3F6"/>
          </a:solidFill>
          <a:ln/>
        </p:spPr>
      </p:sp>
      <p:sp>
        <p:nvSpPr>
          <p:cNvPr id="29" name="trust 6 circle"/>
          <p:cNvSpPr/>
          <p:nvPr/>
        </p:nvSpPr>
        <p:spPr>
          <a:xfrm>
            <a:off x="8386877" y="4114800"/>
            <a:ext cx="502920" cy="502920"/>
          </a:xfrm>
          <a:prstGeom prst="ellipse">
            <a:avLst/>
          </a:prstGeom>
          <a:solidFill>
            <a:srgbClr val="0F2A44"/>
          </a:solidFill>
          <a:ln/>
        </p:spPr>
      </p:sp>
      <p:pic>
        <p:nvPicPr>
          <p:cNvPr id="30" name="trust 6 icon" descr="preencoded.png">    </p:cNvPr>
          <p:cNvPicPr>
            <a:picLocks noChangeAspect="1"/>
          </p:cNvPicPr>
          <p:nvPr/>
        </p:nvPicPr>
        <p:blipFill>
          <a:blip r:embed="rId6"/>
          <a:stretch>
            <a:fillRect/>
          </a:stretch>
        </p:blipFill>
        <p:spPr>
          <a:xfrm>
            <a:off x="8507578" y="4235501"/>
            <a:ext cx="261518" cy="261518"/>
          </a:xfrm>
          <a:prstGeom prst="rect">
            <a:avLst/>
          </a:prstGeom>
        </p:spPr>
      </p:pic>
      <p:sp>
        <p:nvSpPr>
          <p:cNvPr id="31" name="trust 6 heading"/>
          <p:cNvSpPr txBox="1"/>
          <p:nvPr/>
        </p:nvSpPr>
        <p:spPr>
          <a:xfrm>
            <a:off x="9026957" y="4087368"/>
            <a:ext cx="2433218" cy="5943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A second pair of eyes</a:t>
            </a:r>
            <a:endParaRPr lang="en-US" sz="1500" dirty="0"/>
          </a:p>
        </p:txBody>
      </p:sp>
      <p:sp>
        <p:nvSpPr>
          <p:cNvPr id="32" name="trust 6 text"/>
          <p:cNvSpPr txBox="1"/>
          <p:nvPr/>
        </p:nvSpPr>
        <p:spPr>
          <a:xfrm>
            <a:off x="8386877" y="4800600"/>
            <a:ext cx="3027578"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Optionally, big changes need a second HR person to approve.</a:t>
            </a:r>
            <a:endParaRPr lang="en-US" sz="14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Works on any screen</a:t>
            </a:r>
            <a:endParaRPr lang="en-US" sz="3600" dirty="0"/>
          </a:p>
        </p:txBody>
      </p:sp>
      <p:sp>
        <p:nvSpPr>
          <p:cNvPr id="3" name="phone 1 frame"/>
          <p:cNvSpPr/>
          <p:nvPr/>
        </p:nvSpPr>
        <p:spPr>
          <a:xfrm>
            <a:off x="548640" y="1371600"/>
            <a:ext cx="1965960" cy="3936609"/>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4000"/>
              </a:srgbClr>
            </a:outerShdw>
          </a:effectLst>
        </p:spPr>
      </p:sp>
      <p:pic>
        <p:nvPicPr>
          <p:cNvPr id="4" name="phone 1" descr="C:\Users\USER\AppData\Local\Temp\claude\C--Users-USER\0e8a0cf1-bc69-4633-9dd2-1566641d4538\scratchpad\deck/img/phone-login.png">    </p:cNvPr>
          <p:cNvPicPr>
            <a:picLocks noChangeAspect="1"/>
          </p:cNvPicPr>
          <p:nvPr/>
        </p:nvPicPr>
        <p:blipFill>
          <a:blip r:embed="rId1"/>
          <a:stretch>
            <a:fillRect/>
          </a:stretch>
        </p:blipFill>
        <p:spPr>
          <a:xfrm>
            <a:off x="594360" y="1417320"/>
            <a:ext cx="1874520" cy="3845169"/>
          </a:xfrm>
          <a:prstGeom prst="rect">
            <a:avLst/>
          </a:prstGeom>
        </p:spPr>
      </p:pic>
      <p:sp>
        <p:nvSpPr>
          <p:cNvPr id="5" name="phone 2 frame"/>
          <p:cNvSpPr/>
          <p:nvPr/>
        </p:nvSpPr>
        <p:spPr>
          <a:xfrm>
            <a:off x="2697480" y="1371600"/>
            <a:ext cx="1965960" cy="3936609"/>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4000"/>
              </a:srgbClr>
            </a:outerShdw>
          </a:effectLst>
        </p:spPr>
      </p:sp>
      <p:pic>
        <p:nvPicPr>
          <p:cNvPr id="6" name="phone 2" descr="C:\Users\USER\AppData\Local\Temp\claude\C--Users-USER\0e8a0cf1-bc69-4633-9dd2-1566641d4538\scratchpad\deck/img/phone-home.png">    </p:cNvPr>
          <p:cNvPicPr>
            <a:picLocks noChangeAspect="1"/>
          </p:cNvPicPr>
          <p:nvPr/>
        </p:nvPicPr>
        <p:blipFill>
          <a:blip r:embed="rId2"/>
          <a:stretch>
            <a:fillRect/>
          </a:stretch>
        </p:blipFill>
        <p:spPr>
          <a:xfrm>
            <a:off x="2743200" y="1417320"/>
            <a:ext cx="1874520" cy="3845169"/>
          </a:xfrm>
          <a:prstGeom prst="rect">
            <a:avLst/>
          </a:prstGeom>
        </p:spPr>
      </p:pic>
      <p:sp>
        <p:nvSpPr>
          <p:cNvPr id="7" name="phone 3 frame"/>
          <p:cNvSpPr/>
          <p:nvPr/>
        </p:nvSpPr>
        <p:spPr>
          <a:xfrm>
            <a:off x="4846320" y="1371600"/>
            <a:ext cx="1965960" cy="3936609"/>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4000"/>
              </a:srgbClr>
            </a:outerShdw>
          </a:effectLst>
        </p:spPr>
      </p:sp>
      <p:pic>
        <p:nvPicPr>
          <p:cNvPr id="8" name="phone 3" descr="C:\Users\USER\AppData\Local\Temp\claude\C--Users-USER\0e8a0cf1-bc69-4633-9dd2-1566641d4538\scratchpad\deck/img/phone-growth.png">    </p:cNvPr>
          <p:cNvPicPr>
            <a:picLocks noChangeAspect="1"/>
          </p:cNvPicPr>
          <p:nvPr/>
        </p:nvPicPr>
        <p:blipFill>
          <a:blip r:embed="rId3"/>
          <a:stretch>
            <a:fillRect/>
          </a:stretch>
        </p:blipFill>
        <p:spPr>
          <a:xfrm>
            <a:off x="4892040" y="1417320"/>
            <a:ext cx="1874520" cy="3845169"/>
          </a:xfrm>
          <a:prstGeom prst="rect">
            <a:avLst/>
          </a:prstGeom>
        </p:spPr>
      </p:pic>
      <p:sp>
        <p:nvSpPr>
          <p:cNvPr id="9" name="screen stat 1"/>
          <p:cNvSpPr txBox="1"/>
          <p:nvPr/>
        </p:nvSpPr>
        <p:spPr>
          <a:xfrm>
            <a:off x="7223760" y="1463040"/>
            <a:ext cx="438912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45</a:t>
            </a:r>
            <a:endParaRPr lang="en-US" sz="3600" dirty="0"/>
          </a:p>
        </p:txBody>
      </p:sp>
      <p:sp>
        <p:nvSpPr>
          <p:cNvPr id="10" name="screen label 1"/>
          <p:cNvSpPr txBox="1"/>
          <p:nvPr/>
        </p:nvSpPr>
        <p:spPr>
          <a:xfrm>
            <a:off x="7223760" y="2148840"/>
            <a:ext cx="4389120" cy="548640"/>
          </a:xfrm>
          <a:prstGeom prst="rect">
            <a:avLst/>
          </a:prstGeom>
          <a:noFill/>
          <a:ln/>
        </p:spPr>
        <p:txBody>
          <a:bodyPr wrap="square" lIns="0" tIns="0" rIns="0" bIns="0" rtlCol="0" anchor="t"/>
          <a:lstStyle/>
          <a:p>
            <a:pPr indent="0" marL="0">
              <a:buNone/>
            </a:pPr>
            <a:r>
              <a:rPr lang="en-US" sz="1600" dirty="0">
                <a:solidFill>
                  <a:srgbClr val="5B6B7C"/>
                </a:solidFill>
                <a:latin typeface="Calibri" pitchFamily="34" charset="0"/>
                <a:ea typeface="Calibri" pitchFamily="34" charset="-122"/>
                <a:cs typeface="Calibri" pitchFamily="34" charset="-120"/>
              </a:rPr>
              <a:t>pages checked, for all six roles</a:t>
            </a:r>
            <a:endParaRPr lang="en-US" sz="1600" dirty="0"/>
          </a:p>
        </p:txBody>
      </p:sp>
      <p:sp>
        <p:nvSpPr>
          <p:cNvPr id="11" name="screen stat 2"/>
          <p:cNvSpPr txBox="1"/>
          <p:nvPr/>
        </p:nvSpPr>
        <p:spPr>
          <a:xfrm>
            <a:off x="7223760" y="2926080"/>
            <a:ext cx="438912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a:t>
            </a:r>
            <a:endParaRPr lang="en-US" sz="3600" dirty="0"/>
          </a:p>
        </p:txBody>
      </p:sp>
      <p:sp>
        <p:nvSpPr>
          <p:cNvPr id="12" name="screen label 2"/>
          <p:cNvSpPr txBox="1"/>
          <p:nvPr/>
        </p:nvSpPr>
        <p:spPr>
          <a:xfrm>
            <a:off x="7223760" y="3611880"/>
            <a:ext cx="4389120" cy="548640"/>
          </a:xfrm>
          <a:prstGeom prst="rect">
            <a:avLst/>
          </a:prstGeom>
          <a:noFill/>
          <a:ln/>
        </p:spPr>
        <p:txBody>
          <a:bodyPr wrap="square" lIns="0" tIns="0" rIns="0" bIns="0" rtlCol="0" anchor="t"/>
          <a:lstStyle/>
          <a:p>
            <a:pPr indent="0" marL="0">
              <a:buNone/>
            </a:pPr>
            <a:r>
              <a:rPr lang="en-US" sz="1600" dirty="0">
                <a:solidFill>
                  <a:srgbClr val="5B6B7C"/>
                </a:solidFill>
                <a:latin typeface="Calibri" pitchFamily="34" charset="0"/>
                <a:ea typeface="Calibri" pitchFamily="34" charset="-122"/>
                <a:cs typeface="Calibri" pitchFamily="34" charset="-120"/>
              </a:rPr>
              <a:t>accessibility problems found (WCAG 2.1 AA)</a:t>
            </a:r>
            <a:endParaRPr lang="en-US" sz="1600" dirty="0"/>
          </a:p>
        </p:txBody>
      </p:sp>
      <p:sp>
        <p:nvSpPr>
          <p:cNvPr id="13" name="screen stat 3"/>
          <p:cNvSpPr txBox="1"/>
          <p:nvPr/>
        </p:nvSpPr>
        <p:spPr>
          <a:xfrm>
            <a:off x="7223760" y="4389120"/>
            <a:ext cx="438912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320 to 430</a:t>
            </a:r>
            <a:endParaRPr lang="en-US" sz="3600" dirty="0"/>
          </a:p>
        </p:txBody>
      </p:sp>
      <p:sp>
        <p:nvSpPr>
          <p:cNvPr id="14" name="screen label 3"/>
          <p:cNvSpPr txBox="1"/>
          <p:nvPr/>
        </p:nvSpPr>
        <p:spPr>
          <a:xfrm>
            <a:off x="7223760" y="5074920"/>
            <a:ext cx="4389120" cy="548640"/>
          </a:xfrm>
          <a:prstGeom prst="rect">
            <a:avLst/>
          </a:prstGeom>
          <a:noFill/>
          <a:ln/>
        </p:spPr>
        <p:txBody>
          <a:bodyPr wrap="square" lIns="0" tIns="0" rIns="0" bIns="0" rtlCol="0" anchor="t"/>
          <a:lstStyle/>
          <a:p>
            <a:pPr indent="0" marL="0">
              <a:buNone/>
            </a:pPr>
            <a:r>
              <a:rPr lang="en-US" sz="1600" dirty="0">
                <a:solidFill>
                  <a:srgbClr val="5B6B7C"/>
                </a:solidFill>
                <a:latin typeface="Calibri" pitchFamily="34" charset="0"/>
                <a:ea typeface="Calibri" pitchFamily="34" charset="-122"/>
                <a:cs typeface="Calibri" pitchFamily="34" charset="-120"/>
              </a:rPr>
              <a:t>phone widths tested, small Androids to large iPhones</a:t>
            </a:r>
            <a:endParaRPr lang="en-US" sz="1600" dirty="0"/>
          </a:p>
        </p:txBody>
      </p:sp>
      <p:sp>
        <p:nvSpPr>
          <p:cNvPr id="15" name="themes note"/>
          <p:cNvSpPr txBox="1"/>
          <p:nvPr/>
        </p:nvSpPr>
        <p:spPr>
          <a:xfrm>
            <a:off x="7223760" y="5806440"/>
            <a:ext cx="4389120" cy="365760"/>
          </a:xfrm>
          <a:prstGeom prst="rect">
            <a:avLst/>
          </a:prstGeom>
          <a:noFill/>
          <a:ln/>
        </p:spPr>
        <p:txBody>
          <a:bodyPr wrap="square" lIns="0" tIns="0" rIns="0" bIns="0" rtlCol="0" anchor="t"/>
          <a:lstStyle/>
          <a:p>
            <a:pPr indent="0" marL="0">
              <a:buNone/>
            </a:pPr>
            <a:r>
              <a:rPr lang="en-US" sz="1400" dirty="0">
                <a:solidFill>
                  <a:srgbClr val="5B6B7C"/>
                </a:solidFill>
                <a:latin typeface="Calibri" pitchFamily="34" charset="0"/>
                <a:ea typeface="Calibri" pitchFamily="34" charset="-122"/>
                <a:cs typeface="Calibri" pitchFamily="34" charset="-120"/>
              </a:rPr>
              <a:t>Light and dark themes, on computers, tablets and phones.</a:t>
            </a:r>
            <a:endParaRPr lang="en-US" sz="14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How we know it works</a:t>
            </a:r>
            <a:endParaRPr lang="en-US" sz="3600" dirty="0"/>
          </a:p>
        </p:txBody>
      </p:sp>
      <p:sp>
        <p:nvSpPr>
          <p:cNvPr id="3" name="evidence 1 card"/>
          <p:cNvSpPr/>
          <p:nvPr/>
        </p:nvSpPr>
        <p:spPr>
          <a:xfrm>
            <a:off x="548640" y="1463040"/>
            <a:ext cx="2533574" cy="2103120"/>
          </a:xfrm>
          <a:prstGeom prst="roundRect">
            <a:avLst>
              <a:gd name="adj" fmla="val 3478"/>
            </a:avLst>
          </a:prstGeom>
          <a:solidFill>
            <a:srgbClr val="EEF3F6"/>
          </a:solidFill>
          <a:ln/>
        </p:spPr>
      </p:sp>
      <p:sp>
        <p:nvSpPr>
          <p:cNvPr id="4" name="evidence 1 number"/>
          <p:cNvSpPr txBox="1"/>
          <p:nvPr/>
        </p:nvSpPr>
        <p:spPr>
          <a:xfrm>
            <a:off x="777240" y="1691640"/>
            <a:ext cx="2076374" cy="82296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400</a:t>
            </a:r>
            <a:endParaRPr lang="en-US" sz="3800" dirty="0"/>
          </a:p>
        </p:txBody>
      </p:sp>
      <p:sp>
        <p:nvSpPr>
          <p:cNvPr id="5" name="evidence 1 text"/>
          <p:cNvSpPr txBox="1"/>
          <p:nvPr/>
        </p:nvSpPr>
        <p:spPr>
          <a:xfrm>
            <a:off x="777240" y="2606040"/>
            <a:ext cx="2076374" cy="10972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automated tests, all passing, run on two kinds of database</a:t>
            </a:r>
            <a:endParaRPr lang="en-US" sz="1500" dirty="0"/>
          </a:p>
        </p:txBody>
      </p:sp>
      <p:sp>
        <p:nvSpPr>
          <p:cNvPr id="6" name="evidence 2 card"/>
          <p:cNvSpPr/>
          <p:nvPr/>
        </p:nvSpPr>
        <p:spPr>
          <a:xfrm>
            <a:off x="3402254" y="1463040"/>
            <a:ext cx="2533574" cy="2103120"/>
          </a:xfrm>
          <a:prstGeom prst="roundRect">
            <a:avLst>
              <a:gd name="adj" fmla="val 3478"/>
            </a:avLst>
          </a:prstGeom>
          <a:solidFill>
            <a:srgbClr val="EEF3F6"/>
          </a:solidFill>
          <a:ln/>
        </p:spPr>
      </p:sp>
      <p:sp>
        <p:nvSpPr>
          <p:cNvPr id="7" name="evidence 2 number"/>
          <p:cNvSpPr txBox="1"/>
          <p:nvPr/>
        </p:nvSpPr>
        <p:spPr>
          <a:xfrm>
            <a:off x="3630854" y="1691640"/>
            <a:ext cx="2076374" cy="82296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20,000</a:t>
            </a:r>
            <a:endParaRPr lang="en-US" sz="3800" dirty="0"/>
          </a:p>
        </p:txBody>
      </p:sp>
      <p:sp>
        <p:nvSpPr>
          <p:cNvPr id="8" name="evidence 2 text"/>
          <p:cNvSpPr txBox="1"/>
          <p:nvPr/>
        </p:nvSpPr>
        <p:spPr>
          <a:xfrm>
            <a:off x="3630854" y="2606040"/>
            <a:ext cx="2076374" cy="10972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unseen records used to measure the model, once</a:t>
            </a:r>
            <a:endParaRPr lang="en-US" sz="1500" dirty="0"/>
          </a:p>
        </p:txBody>
      </p:sp>
      <p:sp>
        <p:nvSpPr>
          <p:cNvPr id="9" name="evidence 3 card"/>
          <p:cNvSpPr/>
          <p:nvPr/>
        </p:nvSpPr>
        <p:spPr>
          <a:xfrm>
            <a:off x="6255868" y="1463040"/>
            <a:ext cx="2533574" cy="2103120"/>
          </a:xfrm>
          <a:prstGeom prst="roundRect">
            <a:avLst>
              <a:gd name="adj" fmla="val 3478"/>
            </a:avLst>
          </a:prstGeom>
          <a:solidFill>
            <a:srgbClr val="EEF3F6"/>
          </a:solidFill>
          <a:ln/>
        </p:spPr>
      </p:sp>
      <p:sp>
        <p:nvSpPr>
          <p:cNvPr id="10" name="evidence 3 number"/>
          <p:cNvSpPr txBox="1"/>
          <p:nvPr/>
        </p:nvSpPr>
        <p:spPr>
          <a:xfrm>
            <a:off x="6484468" y="1691640"/>
            <a:ext cx="2076374" cy="82296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0</a:t>
            </a:r>
            <a:endParaRPr lang="en-US" sz="3800" dirty="0"/>
          </a:p>
        </p:txBody>
      </p:sp>
      <p:sp>
        <p:nvSpPr>
          <p:cNvPr id="11" name="evidence 3 text"/>
          <p:cNvSpPr txBox="1"/>
          <p:nvPr/>
        </p:nvSpPr>
        <p:spPr>
          <a:xfrm>
            <a:off x="6484468" y="2606040"/>
            <a:ext cx="2076374" cy="10972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scores changed by feedback, in the isolation test</a:t>
            </a:r>
            <a:endParaRPr lang="en-US" sz="1500" dirty="0"/>
          </a:p>
        </p:txBody>
      </p:sp>
      <p:sp>
        <p:nvSpPr>
          <p:cNvPr id="12" name="evidence 4 card"/>
          <p:cNvSpPr/>
          <p:nvPr/>
        </p:nvSpPr>
        <p:spPr>
          <a:xfrm>
            <a:off x="9109481" y="1463040"/>
            <a:ext cx="2533574" cy="2103120"/>
          </a:xfrm>
          <a:prstGeom prst="roundRect">
            <a:avLst>
              <a:gd name="adj" fmla="val 3478"/>
            </a:avLst>
          </a:prstGeom>
          <a:solidFill>
            <a:srgbClr val="EEF3F6"/>
          </a:solidFill>
          <a:ln/>
        </p:spPr>
      </p:sp>
      <p:sp>
        <p:nvSpPr>
          <p:cNvPr id="13" name="evidence 4 number"/>
          <p:cNvSpPr txBox="1"/>
          <p:nvPr/>
        </p:nvSpPr>
        <p:spPr>
          <a:xfrm>
            <a:off x="9338081" y="1691640"/>
            <a:ext cx="2076374" cy="82296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0.27 s</a:t>
            </a:r>
            <a:endParaRPr lang="en-US" sz="3800" dirty="0"/>
          </a:p>
        </p:txBody>
      </p:sp>
      <p:sp>
        <p:nvSpPr>
          <p:cNvPr id="14" name="evidence 4 text"/>
          <p:cNvSpPr txBox="1"/>
          <p:nvPr/>
        </p:nvSpPr>
        <p:spPr>
          <a:xfrm>
            <a:off x="9338081" y="2606040"/>
            <a:ext cx="2076374" cy="10972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slowest page load with 5,000 employees</a:t>
            </a:r>
            <a:endParaRPr lang="en-US" sz="1500" dirty="0"/>
          </a:p>
        </p:txBody>
      </p:sp>
      <p:sp>
        <p:nvSpPr>
          <p:cNvPr id="15" name="study circle"/>
          <p:cNvSpPr/>
          <p:nvPr/>
        </p:nvSpPr>
        <p:spPr>
          <a:xfrm>
            <a:off x="548640" y="4023360"/>
            <a:ext cx="685800" cy="685800"/>
          </a:xfrm>
          <a:prstGeom prst="ellipse">
            <a:avLst/>
          </a:prstGeom>
          <a:solidFill>
            <a:srgbClr val="0F2A44"/>
          </a:solidFill>
          <a:ln/>
        </p:spPr>
      </p:sp>
      <p:pic>
        <p:nvPicPr>
          <p:cNvPr id="16" name="study icon" descr="preencoded.png">    </p:cNvPr>
          <p:cNvPicPr>
            <a:picLocks noChangeAspect="1"/>
          </p:cNvPicPr>
          <p:nvPr/>
        </p:nvPicPr>
        <p:blipFill>
          <a:blip r:embed="rId1"/>
          <a:stretch>
            <a:fillRect/>
          </a:stretch>
        </p:blipFill>
        <p:spPr>
          <a:xfrm>
            <a:off x="713232" y="4187952"/>
            <a:ext cx="356616" cy="356616"/>
          </a:xfrm>
          <a:prstGeom prst="rect">
            <a:avLst/>
          </a:prstGeom>
        </p:spPr>
      </p:pic>
      <p:sp>
        <p:nvSpPr>
          <p:cNvPr id="17" name="study text"/>
          <p:cNvSpPr txBox="1"/>
          <p:nvPr/>
        </p:nvSpPr>
        <p:spPr>
          <a:xfrm>
            <a:off x="1463040" y="4069080"/>
            <a:ext cx="10180015" cy="91440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Next: a study with real people. </a:t>
            </a:r>
            <a:pPr indent="0" marL="0">
              <a:buNone/>
            </a:pPr>
            <a:r>
              <a:rPr lang="en-US" sz="1700" dirty="0">
                <a:solidFill>
                  <a:schemeClr val="tx1"/>
                </a:solidFill>
                <a:latin typeface="Calibri" pitchFamily="34" charset="0"/>
                <a:ea typeface="Calibri" pitchFamily="34" charset="-122"/>
                <a:cs typeface="Calibri" pitchFamily="34" charset="-120"/>
              </a:rPr>
              <a:t>The kit is ready inside the app: 11 tasks, a standard usability questionnaire, and questions on whether the process feels fair.</a:t>
            </a:r>
            <a:endParaRPr lang="en-US" sz="17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What it can't do yet</a:t>
            </a:r>
            <a:endParaRPr lang="en-US" sz="3600" dirty="0"/>
          </a:p>
        </p:txBody>
      </p:sp>
      <p:sp>
        <p:nvSpPr>
          <p:cNvPr id="3" name="limit 1 card"/>
          <p:cNvSpPr/>
          <p:nvPr/>
        </p:nvSpPr>
        <p:spPr>
          <a:xfrm>
            <a:off x="548640" y="1371600"/>
            <a:ext cx="5364328" cy="1600200"/>
          </a:xfrm>
          <a:prstGeom prst="roundRect">
            <a:avLst>
              <a:gd name="adj" fmla="val 4571"/>
            </a:avLst>
          </a:prstGeom>
          <a:solidFill>
            <a:srgbClr val="EEF3F6"/>
          </a:solidFill>
          <a:ln/>
        </p:spPr>
      </p:sp>
      <p:sp>
        <p:nvSpPr>
          <p:cNvPr id="4" name="limit 1 circle"/>
          <p:cNvSpPr/>
          <p:nvPr/>
        </p:nvSpPr>
        <p:spPr>
          <a:xfrm>
            <a:off x="822960" y="1645920"/>
            <a:ext cx="640080" cy="640080"/>
          </a:xfrm>
          <a:prstGeom prst="ellipse">
            <a:avLst/>
          </a:prstGeom>
          <a:solidFill>
            <a:srgbClr val="0F2A44"/>
          </a:solidFill>
          <a:ln/>
        </p:spPr>
      </p:sp>
      <p:pic>
        <p:nvPicPr>
          <p:cNvPr id="5" name="limit 1 icon" descr="preencoded.png">    </p:cNvPr>
          <p:cNvPicPr>
            <a:picLocks noChangeAspect="1"/>
          </p:cNvPicPr>
          <p:nvPr/>
        </p:nvPicPr>
        <p:blipFill>
          <a:blip r:embed="rId1"/>
          <a:stretch>
            <a:fillRect/>
          </a:stretch>
        </p:blipFill>
        <p:spPr>
          <a:xfrm>
            <a:off x="976579" y="1799539"/>
            <a:ext cx="332842" cy="332842"/>
          </a:xfrm>
          <a:prstGeom prst="rect">
            <a:avLst/>
          </a:prstGeom>
        </p:spPr>
      </p:pic>
      <p:sp>
        <p:nvSpPr>
          <p:cNvPr id="6" name="limit 1 heading"/>
          <p:cNvSpPr txBox="1"/>
          <p:nvPr/>
        </p:nvSpPr>
        <p:spPr>
          <a:xfrm>
            <a:off x="1691640" y="1682496"/>
            <a:ext cx="3947008" cy="50292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Simulated data</a:t>
            </a:r>
            <a:endParaRPr lang="en-US" sz="1900" dirty="0"/>
          </a:p>
        </p:txBody>
      </p:sp>
      <p:sp>
        <p:nvSpPr>
          <p:cNvPr id="7" name="limit 1 text"/>
          <p:cNvSpPr txBox="1"/>
          <p:nvPr/>
        </p:nvSpPr>
        <p:spPr>
          <a:xfrm>
            <a:off x="1691640" y="2148840"/>
            <a:ext cx="3947008"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 real company would retrain it on its own history, with consent.</a:t>
            </a:r>
            <a:endParaRPr lang="en-US" sz="1500" dirty="0"/>
          </a:p>
        </p:txBody>
      </p:sp>
      <p:sp>
        <p:nvSpPr>
          <p:cNvPr id="8" name="limit 2 card"/>
          <p:cNvSpPr/>
          <p:nvPr/>
        </p:nvSpPr>
        <p:spPr>
          <a:xfrm>
            <a:off x="6278728" y="1371600"/>
            <a:ext cx="5364328" cy="1600200"/>
          </a:xfrm>
          <a:prstGeom prst="roundRect">
            <a:avLst>
              <a:gd name="adj" fmla="val 4571"/>
            </a:avLst>
          </a:prstGeom>
          <a:solidFill>
            <a:srgbClr val="EEF3F6"/>
          </a:solidFill>
          <a:ln/>
        </p:spPr>
      </p:sp>
      <p:sp>
        <p:nvSpPr>
          <p:cNvPr id="9" name="limit 2 circle"/>
          <p:cNvSpPr/>
          <p:nvPr/>
        </p:nvSpPr>
        <p:spPr>
          <a:xfrm>
            <a:off x="6553048" y="1645920"/>
            <a:ext cx="640080" cy="640080"/>
          </a:xfrm>
          <a:prstGeom prst="ellipse">
            <a:avLst/>
          </a:prstGeom>
          <a:solidFill>
            <a:srgbClr val="0F2A44"/>
          </a:solidFill>
          <a:ln/>
        </p:spPr>
      </p:sp>
      <p:pic>
        <p:nvPicPr>
          <p:cNvPr id="10" name="limit 2 icon" descr="preencoded.png">    </p:cNvPr>
          <p:cNvPicPr>
            <a:picLocks noChangeAspect="1"/>
          </p:cNvPicPr>
          <p:nvPr/>
        </p:nvPicPr>
        <p:blipFill>
          <a:blip r:embed="rId2"/>
          <a:stretch>
            <a:fillRect/>
          </a:stretch>
        </p:blipFill>
        <p:spPr>
          <a:xfrm>
            <a:off x="6706667" y="1799539"/>
            <a:ext cx="332842" cy="332842"/>
          </a:xfrm>
          <a:prstGeom prst="rect">
            <a:avLst/>
          </a:prstGeom>
        </p:spPr>
      </p:pic>
      <p:sp>
        <p:nvSpPr>
          <p:cNvPr id="11" name="limit 2 heading"/>
          <p:cNvSpPr txBox="1"/>
          <p:nvPr/>
        </p:nvSpPr>
        <p:spPr>
          <a:xfrm>
            <a:off x="7421728" y="1682496"/>
            <a:ext cx="3947008" cy="50292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Not yet tried with real staff</a:t>
            </a:r>
            <a:endParaRPr lang="en-US" sz="1900" dirty="0"/>
          </a:p>
        </p:txBody>
      </p:sp>
      <p:sp>
        <p:nvSpPr>
          <p:cNvPr id="12" name="limit 2 text"/>
          <p:cNvSpPr txBox="1"/>
          <p:nvPr/>
        </p:nvSpPr>
        <p:spPr>
          <a:xfrm>
            <a:off x="7421728" y="2148840"/>
            <a:ext cx="3947008"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 study is ready but still to be run.</a:t>
            </a:r>
            <a:endParaRPr lang="en-US" sz="1500" dirty="0"/>
          </a:p>
        </p:txBody>
      </p:sp>
      <p:sp>
        <p:nvSpPr>
          <p:cNvPr id="13" name="limit 3 card"/>
          <p:cNvSpPr/>
          <p:nvPr/>
        </p:nvSpPr>
        <p:spPr>
          <a:xfrm>
            <a:off x="548640" y="3246120"/>
            <a:ext cx="5364328" cy="1600200"/>
          </a:xfrm>
          <a:prstGeom prst="roundRect">
            <a:avLst>
              <a:gd name="adj" fmla="val 4571"/>
            </a:avLst>
          </a:prstGeom>
          <a:solidFill>
            <a:srgbClr val="FBE6DC"/>
          </a:solidFill>
          <a:ln/>
        </p:spPr>
      </p:sp>
      <p:sp>
        <p:nvSpPr>
          <p:cNvPr id="14" name="limit 3 circle"/>
          <p:cNvSpPr/>
          <p:nvPr/>
        </p:nvSpPr>
        <p:spPr>
          <a:xfrm>
            <a:off x="822960" y="3520440"/>
            <a:ext cx="640080" cy="640080"/>
          </a:xfrm>
          <a:prstGeom prst="ellipse">
            <a:avLst/>
          </a:prstGeom>
          <a:solidFill>
            <a:srgbClr val="C2410C"/>
          </a:solidFill>
          <a:ln/>
        </p:spPr>
      </p:sp>
      <p:pic>
        <p:nvPicPr>
          <p:cNvPr id="15" name="limit 3 icon" descr="preencoded.png">    </p:cNvPr>
          <p:cNvPicPr>
            <a:picLocks noChangeAspect="1"/>
          </p:cNvPicPr>
          <p:nvPr/>
        </p:nvPicPr>
        <p:blipFill>
          <a:blip r:embed="rId3"/>
          <a:stretch>
            <a:fillRect/>
          </a:stretch>
        </p:blipFill>
        <p:spPr>
          <a:xfrm>
            <a:off x="976579" y="3674059"/>
            <a:ext cx="332842" cy="332842"/>
          </a:xfrm>
          <a:prstGeom prst="rect">
            <a:avLst/>
          </a:prstGeom>
        </p:spPr>
      </p:pic>
      <p:sp>
        <p:nvSpPr>
          <p:cNvPr id="16" name="limit 3 heading"/>
          <p:cNvSpPr txBox="1"/>
          <p:nvPr/>
        </p:nvSpPr>
        <p:spPr>
          <a:xfrm>
            <a:off x="1691640" y="3557016"/>
            <a:ext cx="3947008" cy="50292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Fairness has a price</a:t>
            </a:r>
            <a:endParaRPr lang="en-US" sz="1900" dirty="0"/>
          </a:p>
        </p:txBody>
      </p:sp>
      <p:sp>
        <p:nvSpPr>
          <p:cNvPr id="17" name="limit 3 text"/>
          <p:cNvSpPr txBox="1"/>
          <p:nvPr/>
        </p:nvSpPr>
        <p:spPr>
          <a:xfrm>
            <a:off x="1691640" y="4023360"/>
            <a:ext cx="3947008"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Leaving department out made it less accurate at copying past decisions. That is deliberate: it stops scoring people by where they work.</a:t>
            </a:r>
            <a:endParaRPr lang="en-US" sz="1500" dirty="0"/>
          </a:p>
        </p:txBody>
      </p:sp>
      <p:sp>
        <p:nvSpPr>
          <p:cNvPr id="18" name="limit 4 card"/>
          <p:cNvSpPr/>
          <p:nvPr/>
        </p:nvSpPr>
        <p:spPr>
          <a:xfrm>
            <a:off x="6278728" y="3246120"/>
            <a:ext cx="5364328" cy="1600200"/>
          </a:xfrm>
          <a:prstGeom prst="roundRect">
            <a:avLst>
              <a:gd name="adj" fmla="val 4571"/>
            </a:avLst>
          </a:prstGeom>
          <a:solidFill>
            <a:srgbClr val="EEF3F6"/>
          </a:solidFill>
          <a:ln/>
        </p:spPr>
      </p:sp>
      <p:sp>
        <p:nvSpPr>
          <p:cNvPr id="19" name="limit 4 circle"/>
          <p:cNvSpPr/>
          <p:nvPr/>
        </p:nvSpPr>
        <p:spPr>
          <a:xfrm>
            <a:off x="6553048" y="3520440"/>
            <a:ext cx="640080" cy="640080"/>
          </a:xfrm>
          <a:prstGeom prst="ellipse">
            <a:avLst/>
          </a:prstGeom>
          <a:solidFill>
            <a:srgbClr val="0F2A44"/>
          </a:solidFill>
          <a:ln/>
        </p:spPr>
      </p:sp>
      <p:pic>
        <p:nvPicPr>
          <p:cNvPr id="20" name="limit 4 icon" descr="preencoded.png">    </p:cNvPr>
          <p:cNvPicPr>
            <a:picLocks noChangeAspect="1"/>
          </p:cNvPicPr>
          <p:nvPr/>
        </p:nvPicPr>
        <p:blipFill>
          <a:blip r:embed="rId4"/>
          <a:stretch>
            <a:fillRect/>
          </a:stretch>
        </p:blipFill>
        <p:spPr>
          <a:xfrm>
            <a:off x="6706667" y="3674059"/>
            <a:ext cx="332842" cy="332842"/>
          </a:xfrm>
          <a:prstGeom prst="rect">
            <a:avLst/>
          </a:prstGeom>
        </p:spPr>
      </p:pic>
      <p:sp>
        <p:nvSpPr>
          <p:cNvPr id="21" name="limit 4 heading"/>
          <p:cNvSpPr txBox="1"/>
          <p:nvPr/>
        </p:nvSpPr>
        <p:spPr>
          <a:xfrm>
            <a:off x="7421728" y="3557016"/>
            <a:ext cx="3947008" cy="50292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Ready to go live, not live yet</a:t>
            </a:r>
            <a:endParaRPr lang="en-US" sz="1900" dirty="0"/>
          </a:p>
        </p:txBody>
      </p:sp>
      <p:sp>
        <p:nvSpPr>
          <p:cNvPr id="22" name="limit 4 text"/>
          <p:cNvSpPr txBox="1"/>
          <p:nvPr/>
        </p:nvSpPr>
        <p:spPr>
          <a:xfrm>
            <a:off x="7421728" y="4023360"/>
            <a:ext cx="3947008"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 secure server set-up is written and the tests pass; it hasn't been run for real.</a:t>
            </a:r>
            <a:endParaRPr lang="en-US" sz="1500" dirty="0"/>
          </a:p>
        </p:txBody>
      </p:sp>
      <p:sp>
        <p:nvSpPr>
          <p:cNvPr id="23" name="next heading"/>
          <p:cNvSpPr txBox="1"/>
          <p:nvPr/>
        </p:nvSpPr>
        <p:spPr>
          <a:xfrm>
            <a:off x="548640" y="5166360"/>
            <a:ext cx="3657600" cy="41148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Next steps</a:t>
            </a:r>
            <a:endParaRPr lang="en-US" sz="1900" dirty="0"/>
          </a:p>
        </p:txBody>
      </p:sp>
      <p:sp>
        <p:nvSpPr>
          <p:cNvPr id="24" name="next 1 circle"/>
          <p:cNvSpPr/>
          <p:nvPr/>
        </p:nvSpPr>
        <p:spPr>
          <a:xfrm>
            <a:off x="548640" y="5623560"/>
            <a:ext cx="411480" cy="411480"/>
          </a:xfrm>
          <a:prstGeom prst="ellipse">
            <a:avLst/>
          </a:prstGeom>
          <a:solidFill>
            <a:srgbClr val="15807A"/>
          </a:solidFill>
          <a:ln/>
        </p:spPr>
      </p:sp>
      <p:pic>
        <p:nvPicPr>
          <p:cNvPr id="25" name="next 1 icon" descr="preencoded.png">    </p:cNvPr>
          <p:cNvPicPr>
            <a:picLocks noChangeAspect="1"/>
          </p:cNvPicPr>
          <p:nvPr/>
        </p:nvPicPr>
        <p:blipFill>
          <a:blip r:embed="rId5"/>
          <a:stretch>
            <a:fillRect/>
          </a:stretch>
        </p:blipFill>
        <p:spPr>
          <a:xfrm>
            <a:off x="647395" y="5722315"/>
            <a:ext cx="213970" cy="213970"/>
          </a:xfrm>
          <a:prstGeom prst="rect">
            <a:avLst/>
          </a:prstGeom>
        </p:spPr>
      </p:pic>
      <p:sp>
        <p:nvSpPr>
          <p:cNvPr id="26" name="next 1 text"/>
          <p:cNvSpPr txBox="1"/>
          <p:nvPr/>
        </p:nvSpPr>
        <p:spPr>
          <a:xfrm>
            <a:off x="1097280" y="5596128"/>
            <a:ext cx="2890418" cy="6858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Run the study with real people</a:t>
            </a:r>
            <a:endParaRPr lang="en-US" sz="1500" dirty="0"/>
          </a:p>
        </p:txBody>
      </p:sp>
      <p:sp>
        <p:nvSpPr>
          <p:cNvPr id="27" name="next 2 circle"/>
          <p:cNvSpPr/>
          <p:nvPr/>
        </p:nvSpPr>
        <p:spPr>
          <a:xfrm>
            <a:off x="4353458" y="5623560"/>
            <a:ext cx="411480" cy="411480"/>
          </a:xfrm>
          <a:prstGeom prst="ellipse">
            <a:avLst/>
          </a:prstGeom>
          <a:solidFill>
            <a:srgbClr val="15807A"/>
          </a:solidFill>
          <a:ln/>
        </p:spPr>
      </p:sp>
      <p:pic>
        <p:nvPicPr>
          <p:cNvPr id="28" name="next 2 icon" descr="preencoded.png">    </p:cNvPr>
          <p:cNvPicPr>
            <a:picLocks noChangeAspect="1"/>
          </p:cNvPicPr>
          <p:nvPr/>
        </p:nvPicPr>
        <p:blipFill>
          <a:blip r:embed="rId6"/>
          <a:stretch>
            <a:fillRect/>
          </a:stretch>
        </p:blipFill>
        <p:spPr>
          <a:xfrm>
            <a:off x="4452214" y="5722315"/>
            <a:ext cx="213970" cy="213970"/>
          </a:xfrm>
          <a:prstGeom prst="rect">
            <a:avLst/>
          </a:prstGeom>
        </p:spPr>
      </p:pic>
      <p:sp>
        <p:nvSpPr>
          <p:cNvPr id="29" name="next 2 text"/>
          <p:cNvSpPr txBox="1"/>
          <p:nvPr/>
        </p:nvSpPr>
        <p:spPr>
          <a:xfrm>
            <a:off x="4902098" y="5596128"/>
            <a:ext cx="2890418" cy="6858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 confidential way to report unfair treatment</a:t>
            </a:r>
            <a:endParaRPr lang="en-US" sz="1500" dirty="0"/>
          </a:p>
        </p:txBody>
      </p:sp>
      <p:sp>
        <p:nvSpPr>
          <p:cNvPr id="30" name="next 3 circle"/>
          <p:cNvSpPr/>
          <p:nvPr/>
        </p:nvSpPr>
        <p:spPr>
          <a:xfrm>
            <a:off x="8158277" y="5623560"/>
            <a:ext cx="411480" cy="411480"/>
          </a:xfrm>
          <a:prstGeom prst="ellipse">
            <a:avLst/>
          </a:prstGeom>
          <a:solidFill>
            <a:srgbClr val="15807A"/>
          </a:solidFill>
          <a:ln/>
        </p:spPr>
      </p:sp>
      <p:pic>
        <p:nvPicPr>
          <p:cNvPr id="31" name="next 3 icon" descr="preencoded.png">    </p:cNvPr>
          <p:cNvPicPr>
            <a:picLocks noChangeAspect="1"/>
          </p:cNvPicPr>
          <p:nvPr/>
        </p:nvPicPr>
        <p:blipFill>
          <a:blip r:embed="rId7"/>
          <a:stretch>
            <a:fillRect/>
          </a:stretch>
        </p:blipFill>
        <p:spPr>
          <a:xfrm>
            <a:off x="8257032" y="5722315"/>
            <a:ext cx="213970" cy="213970"/>
          </a:xfrm>
          <a:prstGeom prst="rect">
            <a:avLst/>
          </a:prstGeom>
        </p:spPr>
      </p:pic>
      <p:sp>
        <p:nvSpPr>
          <p:cNvPr id="32" name="next 3 text"/>
          <p:cNvSpPr txBox="1"/>
          <p:nvPr/>
        </p:nvSpPr>
        <p:spPr>
          <a:xfrm>
            <a:off x="8706917" y="5596128"/>
            <a:ext cx="2890418" cy="6858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Keep department from sneaking back in through other measures</a:t>
            </a:r>
            <a:endParaRPr lang="en-US" sz="15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C"/>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8686800" cy="128016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3" name="Text 0"/>
          <p:cNvSpPr/>
          <p:nvPr>
            <p:ph idx="101" type="body" hasCustomPrompt="1"/>
          </p:nvPr>
        </p:nvSpPr>
        <p:spPr>
          <a:xfrm>
            <a:off x="548640" y="3337560"/>
            <a:ext cx="8686800" cy="1280160"/>
          </a:xfrm>
          <a:prstGeom prst="rect">
            <a:avLst/>
          </a:prstGeom>
          <a:noFill/>
          <a:ln/>
        </p:spPr>
        <p:txBody>
          <a:bodyPr wrap="square" lIns="0" tIns="0" rIns="0" bIns="0" rtlCol="0" anchor="t"/>
          <a:lstStyle/>
          <a:p>
            <a:pPr algn="l" indent="0" marL="0">
              <a:buNone/>
            </a:pPr>
            <a:r>
              <a:rPr lang="en-US" sz="2200" dirty="0">
                <a:solidFill>
                  <a:schemeClr val="bg1"/>
                </a:solidFill>
                <a:latin typeface="Calibri" pitchFamily="34" charset="0"/>
                <a:ea typeface="Calibri" pitchFamily="34" charset="-122"/>
                <a:cs typeface="Calibri" pitchFamily="34" charset="-120"/>
              </a:rPr>
              <a:t>The computer advises. People decide. Everyone can answer back.</a:t>
            </a:r>
            <a:endParaRPr lang="en-US" sz="2200" dirty="0"/>
          </a:p>
        </p:txBody>
      </p:sp>
      <p:sp>
        <p:nvSpPr>
          <p:cNvPr id="4" name="questions"/>
          <p:cNvSpPr txBox="1"/>
          <p:nvPr/>
        </p:nvSpPr>
        <p:spPr>
          <a:xfrm>
            <a:off x="548640" y="5577840"/>
            <a:ext cx="5486400" cy="457200"/>
          </a:xfrm>
          <a:prstGeom prst="rect">
            <a:avLst/>
          </a:prstGeom>
          <a:noFill/>
          <a:ln/>
        </p:spPr>
        <p:txBody>
          <a:bodyPr wrap="square" lIns="0" tIns="0" rIns="0" bIns="0" rtlCol="0" anchor="t"/>
          <a:lstStyle/>
          <a:p>
            <a:pPr indent="0" marL="0">
              <a:buNone/>
            </a:pPr>
            <a:r>
              <a:rPr lang="en-US" sz="1800" dirty="0">
                <a:solidFill>
                  <a:srgbClr val="B9D3E6"/>
                </a:solidFill>
                <a:latin typeface="Calibri" pitchFamily="34" charset="0"/>
                <a:ea typeface="Calibri" pitchFamily="34" charset="-122"/>
                <a:cs typeface="Calibri" pitchFamily="34" charset="-120"/>
              </a:rPr>
              <a:t>Questions welcome</a:t>
            </a:r>
            <a:endParaRPr lang="en-US" sz="1800" dirty="0"/>
          </a:p>
        </p:txBody>
      </p:sp>
      <p:sp>
        <p:nvSpPr>
          <p:cNvPr id="5" name="closing badge circle"/>
          <p:cNvSpPr/>
          <p:nvPr/>
        </p:nvSpPr>
        <p:spPr>
          <a:xfrm>
            <a:off x="9509760" y="1828800"/>
            <a:ext cx="2103120" cy="2103120"/>
          </a:xfrm>
          <a:prstGeom prst="ellipse">
            <a:avLst/>
          </a:prstGeom>
          <a:solidFill>
            <a:srgbClr val="15807A"/>
          </a:solidFill>
          <a:ln/>
        </p:spPr>
      </p:sp>
      <p:pic>
        <p:nvPicPr>
          <p:cNvPr id="6" name="closing badge icon" descr="preencoded.png">    </p:cNvPr>
          <p:cNvPicPr>
            <a:picLocks noChangeAspect="1"/>
          </p:cNvPicPr>
          <p:nvPr/>
        </p:nvPicPr>
        <p:blipFill>
          <a:blip r:embed="rId1"/>
          <a:stretch>
            <a:fillRect/>
          </a:stretch>
        </p:blipFill>
        <p:spPr>
          <a:xfrm>
            <a:off x="10014509" y="2333549"/>
            <a:ext cx="1093622" cy="1093622"/>
          </a:xfrm>
          <a:prstGeom prst="rect">
            <a:avLst/>
          </a:prstGeom>
        </p:spPr>
      </p:pic>
    </p:spTree>
  </p:cSld>
  <p:clrMapOvr>
    <a:masterClrMapping/>
  </p:clrMapOvr>
</p:sld>
</file>

<file path=ppt/theme/theme1.xml><?xml version="1.0" encoding="utf-8"?>
<a:theme xmlns:a="http://schemas.openxmlformats.org/drawingml/2006/main" name="MeritLens">
  <a:themeElements>
    <a:clrScheme name="MeritLens">
      <a:dk1>
        <a:srgbClr val="1B2430"/>
      </a:dk1>
      <a:lt1>
        <a:srgbClr val="FFFFFF"/>
      </a:lt1>
      <a:dk2>
        <a:srgbClr val="0F2A44"/>
      </a:dk2>
      <a:lt2>
        <a:srgbClr val="EEF3F6"/>
      </a:lt2>
      <a:accent1>
        <a:srgbClr val="15807A"/>
      </a:accent1>
      <a:accent2>
        <a:srgbClr val="C2410C"/>
      </a:accent2>
      <a:accent3>
        <a:srgbClr val="3B6E99"/>
      </a:accent3>
      <a:accent4>
        <a:srgbClr val="8AA4B8"/>
      </a:accent4>
      <a:accent5>
        <a:srgbClr val="E0A100"/>
      </a:accent5>
      <a:accent6>
        <a:srgbClr val="5B6B7C"/>
      </a:accent6>
      <a:hlink>
        <a:srgbClr val="1F5F99"/>
      </a:hlink>
      <a:folHlink>
        <a:srgbClr val="6B4E99"/>
      </a:folHlink>
    </a:clrScheme>
    <a:fontScheme name="MeritLe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MeritLens: fair, explainable promotion decisions</dc:title>
  <dc:subject>Final-year project presentation</dc:subject>
  <dc:creator>PptxGenJS</dc:creator>
  <cp:lastModifiedBy>PptxGenJS</cp:lastModifiedBy>
  <cp:revision>1</cp:revision>
  <dcterms:created xsi:type="dcterms:W3CDTF">2026-10-19T01:24:11Z</dcterms:created>
  <dcterms:modified xsi:type="dcterms:W3CDTF">2026-10-19T01:24:11Z</dcterms:modified>
</cp:coreProperties>
</file>